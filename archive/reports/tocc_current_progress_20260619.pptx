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033ef66884ae2" /><Relationship Type="http://schemas.openxmlformats.org/officeDocument/2006/relationships/extended-properties" Target="/docProps/app.xml" Id="R8ce8bff25cb14c75" /><Relationship Type="http://schemas.openxmlformats.org/officeDocument/2006/relationships/officeDocument" Target="/ppt/presentation.xml" Id="R6bd0a41bb517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fe00a2092241dd"/>
  </p:sldMasterIdLst>
  <p:notesMasterIdLst>
    <p:notesMasterId xmlns:r="http://schemas.openxmlformats.org/officeDocument/2006/relationships" r:id="Rad62916a30204388"/>
  </p:notesMasterIdLst>
  <p:sldIdLst>
    <p:sldId xmlns:r="http://schemas.openxmlformats.org/officeDocument/2006/relationships" id="256" r:id="Ra7b5a39e7967477a"/>
    <p:sldId xmlns:r="http://schemas.openxmlformats.org/officeDocument/2006/relationships" id="257" r:id="R1c53c3bdcdb14b9f"/>
    <p:sldId xmlns:r="http://schemas.openxmlformats.org/officeDocument/2006/relationships" id="258" r:id="Rbaa3f84180d544ef"/>
    <p:sldId xmlns:r="http://schemas.openxmlformats.org/officeDocument/2006/relationships" id="259" r:id="R58320c2197624b31"/>
    <p:sldId xmlns:r="http://schemas.openxmlformats.org/officeDocument/2006/relationships" id="260" r:id="Ra32298ca0ce84476"/>
    <p:sldId xmlns:r="http://schemas.openxmlformats.org/officeDocument/2006/relationships" id="261" r:id="Rf76443f926ee4519"/>
    <p:sldId xmlns:r="http://schemas.openxmlformats.org/officeDocument/2006/relationships" id="262" r:id="R706f50302f3d46ed"/>
    <p:sldId xmlns:r="http://schemas.openxmlformats.org/officeDocument/2006/relationships" id="263" r:id="R8e382836910941a2"/>
    <p:sldId xmlns:r="http://schemas.openxmlformats.org/officeDocument/2006/relationships" id="264" r:id="Rea8efc89f9fc40c4"/>
    <p:sldId xmlns:r="http://schemas.openxmlformats.org/officeDocument/2006/relationships" id="265" r:id="Rcfd184a1f5ec4879"/>
    <p:sldId xmlns:r="http://schemas.openxmlformats.org/officeDocument/2006/relationships" id="266" r:id="Rc6d3cb5509c040be"/>
    <p:sldId xmlns:r="http://schemas.openxmlformats.org/officeDocument/2006/relationships" id="267" r:id="R897bb4c815974d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c1e09c97034923" /><Relationship Type="http://schemas.openxmlformats.org/officeDocument/2006/relationships/slideMaster" Target="/ppt/slideMasters/slideMaster1.xml" Id="R04fe00a2092241dd" /><Relationship Type="http://schemas.openxmlformats.org/officeDocument/2006/relationships/notesMaster" Target="/ppt/notesMasters/notesMaster1.xml" Id="Rad62916a30204388" /><Relationship Type="http://schemas.openxmlformats.org/officeDocument/2006/relationships/presProps" Target="/ppt/presProps.xml" Id="R2d37c18645ff4d14" /><Relationship Type="http://schemas.openxmlformats.org/officeDocument/2006/relationships/tableStyles" Target="/ppt/tableStyles.xml" Id="Rd0214610a1a04009" /><Relationship Type="http://schemas.openxmlformats.org/officeDocument/2006/relationships/slide" Target="/ppt/slides/slide1.xml" Id="Ra7b5a39e7967477a" /><Relationship Type="http://schemas.openxmlformats.org/officeDocument/2006/relationships/slide" Target="/ppt/slides/slide2.xml" Id="R1c53c3bdcdb14b9f" /><Relationship Type="http://schemas.openxmlformats.org/officeDocument/2006/relationships/slide" Target="/ppt/slides/slide3.xml" Id="Rbaa3f84180d544ef" /><Relationship Type="http://schemas.openxmlformats.org/officeDocument/2006/relationships/slide" Target="/ppt/slides/slide4.xml" Id="R58320c2197624b31" /><Relationship Type="http://schemas.openxmlformats.org/officeDocument/2006/relationships/slide" Target="/ppt/slides/slide5.xml" Id="Ra32298ca0ce84476" /><Relationship Type="http://schemas.openxmlformats.org/officeDocument/2006/relationships/slide" Target="/ppt/slides/slide6.xml" Id="Rf76443f926ee4519" /><Relationship Type="http://schemas.openxmlformats.org/officeDocument/2006/relationships/slide" Target="/ppt/slides/slide7.xml" Id="R706f50302f3d46ed" /><Relationship Type="http://schemas.openxmlformats.org/officeDocument/2006/relationships/slide" Target="/ppt/slides/slide8.xml" Id="R8e382836910941a2" /><Relationship Type="http://schemas.openxmlformats.org/officeDocument/2006/relationships/slide" Target="/ppt/slides/slide9.xml" Id="Rea8efc89f9fc40c4" /><Relationship Type="http://schemas.openxmlformats.org/officeDocument/2006/relationships/slide" Target="/ppt/slides/slide10.xml" Id="Rcfd184a1f5ec4879" /><Relationship Type="http://schemas.openxmlformats.org/officeDocument/2006/relationships/slide" Target="/ppt/slides/slide11.xml" Id="Rc6d3cb5509c040be" /><Relationship Type="http://schemas.openxmlformats.org/officeDocument/2006/relationships/slide" Target="/ppt/slides/slide12.xml" Id="R897bb4c815974d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645d226da41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3c4a920a043b5" /><Relationship Type="http://schemas.openxmlformats.org/officeDocument/2006/relationships/notesMaster" Target="/ppt/notesMasters/notesMaster1.xml" Id="R58fc17adabad44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c2207b3ea4948" /><Relationship Type="http://schemas.openxmlformats.org/officeDocument/2006/relationships/notesMaster" Target="/ppt/notesMasters/notesMaster1.xml" Id="Rda666be571d64e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7896cc9b0841b6" /><Relationship Type="http://schemas.openxmlformats.org/officeDocument/2006/relationships/notesMaster" Target="/ppt/notesMasters/notesMaster1.xml" Id="R9d34d9abdc8c48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daaa9cf204388" /><Relationship Type="http://schemas.openxmlformats.org/officeDocument/2006/relationships/notesMaster" Target="/ppt/notesMasters/notesMaster1.xml" Id="R602ea039d5c6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ad61315f4c472b" /><Relationship Type="http://schemas.openxmlformats.org/officeDocument/2006/relationships/notesMaster" Target="/ppt/notesMasters/notesMaster1.xml" Id="R61045e77d9d748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dc011106e142aa" /><Relationship Type="http://schemas.openxmlformats.org/officeDocument/2006/relationships/notesMaster" Target="/ppt/notesMasters/notesMaster1.xml" Id="Rb737ab926ad045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aee438c4f747bd" /><Relationship Type="http://schemas.openxmlformats.org/officeDocument/2006/relationships/notesMaster" Target="/ppt/notesMasters/notesMaster1.xml" Id="Rf636a51ef1f445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6a5cb868e74fbe" /><Relationship Type="http://schemas.openxmlformats.org/officeDocument/2006/relationships/notesMaster" Target="/ppt/notesMasters/notesMaster1.xml" Id="Red292642f126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5c8555b6a046e0" /><Relationship Type="http://schemas.openxmlformats.org/officeDocument/2006/relationships/notesMaster" Target="/ppt/notesMasters/notesMaster1.xml" Id="R73542a7098e5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a0b53a6be64e54" /><Relationship Type="http://schemas.openxmlformats.org/officeDocument/2006/relationships/notesMaster" Target="/ppt/notesMasters/notesMaster1.xml" Id="R9541d5d289624b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52f16ac2f848d3" /><Relationship Type="http://schemas.openxmlformats.org/officeDocument/2006/relationships/notesMaster" Target="/ppt/notesMasters/notesMaster1.xml" Id="Rd1a4b468ade044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104115272d4832" /><Relationship Type="http://schemas.openxmlformats.org/officeDocument/2006/relationships/notesMaster" Target="/ppt/notesMasters/notesMaster1.xml" Id="Rcf78024938c5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604d7fe8a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9617add9d549fb" /><Relationship Type="http://schemas.openxmlformats.org/officeDocument/2006/relationships/slideLayout" Target="/ppt/slideLayouts/slideLayout1.xml" Id="Rd9dc0c9d1780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dc0c9d1780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5ad6f22924c20" /><Relationship Type="http://schemas.openxmlformats.org/officeDocument/2006/relationships/notesSlide" Target="/ppt/notesSlides/notesSlide1.xml" Id="R2f773837ffcf41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33dab09e549ab" /><Relationship Type="http://schemas.openxmlformats.org/officeDocument/2006/relationships/notesSlide" Target="/ppt/notesSlides/notesSlide2.xml" Id="R179cb09b71fc4a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765c62e6f485d" /><Relationship Type="http://schemas.openxmlformats.org/officeDocument/2006/relationships/image" Target="/ppt/media/image.png" Id="R68e97cc31f544ab5" /><Relationship Type="http://schemas.openxmlformats.org/officeDocument/2006/relationships/notesSlide" Target="/ppt/notesSlides/notesSlide3.xml" Id="R43c44d6f336346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028e16fad40e6" /><Relationship Type="http://schemas.openxmlformats.org/officeDocument/2006/relationships/notesSlide" Target="/ppt/notesSlides/notesSlide4.xml" Id="R5268461c53e84d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4104dc3a84c18" /><Relationship Type="http://schemas.openxmlformats.org/officeDocument/2006/relationships/notesSlide" Target="/ppt/notesSlides/notesSlide5.xml" Id="R9c7e80cc88c445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b1fd895e4732" /><Relationship Type="http://schemas.openxmlformats.org/officeDocument/2006/relationships/notesSlide" Target="/ppt/notesSlides/notesSlide6.xml" Id="R5c46270b467b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6bf6aaf894c1a" /><Relationship Type="http://schemas.openxmlformats.org/officeDocument/2006/relationships/notesSlide" Target="/ppt/notesSlides/notesSlide7.xml" Id="R9675ae6010dd41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41ca94a6d49b5" /><Relationship Type="http://schemas.openxmlformats.org/officeDocument/2006/relationships/notesSlide" Target="/ppt/notesSlides/notesSlide8.xml" Id="R7b97608926764c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57789ffe248e7" /><Relationship Type="http://schemas.openxmlformats.org/officeDocument/2006/relationships/notesSlide" Target="/ppt/notesSlides/notesSlide9.xml" Id="Rb935a6d40a3b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fc26045204716" /><Relationship Type="http://schemas.openxmlformats.org/officeDocument/2006/relationships/notesSlide" Target="/ppt/notesSlides/notesSlide10.xml" Id="Rad932240d5b744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2640cce8d4d78" /><Relationship Type="http://schemas.openxmlformats.org/officeDocument/2006/relationships/notesSlide" Target="/ppt/notesSlides/notesSlide11.xml" Id="R57e9d56179a246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0d692c9904edc" /><Relationship Type="http://schemas.openxmlformats.org/officeDocument/2006/relationships/notesSlide" Target="/ppt/notesSlides/notesSlide12.xml" Id="Ra612a730c37e40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3EEF7-6794-467F-8C21-78945150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TRACE-CONDITIONED OPERATOR-CARD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36C83-32F0-418F-9074-3C1A5B21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自动化实验闭环当前进展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4FA94-DE49-4E7F-9C90-69A10B4A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从手工选 RAG 卡片，推进到 trace 诊断、选卡门禁、manifest 执行、自动汇总与 history-card 记忆的闭环。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AEE00-2CD7-4623-B704-24FB6979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000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5CF0B-70A9-480F-9E59-801FD9F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TOCC 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0694F-767E-425D-A75E-5A85397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146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基于上一轮 run trace 的 operator-card 选择控制器。它诊断搜索偏差，并决定下一轮注入哪些 cards、query 和 run config，用来转向 LLM 启发式进化。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CD966-D178-497C-8F6A-FFDA2A59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7286F-B12E-48B6-BF5E-D6221759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CVRP repeat-level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85989-4BCF-413B-8990-B882830F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-4.2%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20F70-FCBF-4F5B-9768-E606853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tocc_corrected 8/8 优于 pure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AEA56-39C3-4587-8FDC-F10EE32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A55D7-4CFD-4C16-BBB1-D38A772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TSP gen=4 exploratory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1F59F-1CB3-4B97-9AEA-4A184F23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-1.4%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DF20E-51CA-41DC-96A7-8223C78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19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方向正确，但仍需更多问题验证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B67B6-0F61-4DB3-80B2-727F1235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9090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3AEA6-1FE8-4A33-84A7-0AD756D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History-card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0C813-0CD5-4B5E-93CA-D2C1DA8F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已打通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53360-B146-4002-B3FC-C2658BDC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19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可控接入；收益尚未证明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3E363-7CA1-4349-B9DC-C246110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日期 2026-06-19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F5071-3956-40DA-87CC-67F2A5EE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0F9F9-EB94-4661-BEEA-48CCFA51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4418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0471F-CFEA-4938-BB33-FF10EF8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WHY TOCC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0D39-BBCE-4361-A710-FD4ECB9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问题不是“有没有 RAG”，而是“RAG 往哪引导搜索”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EE1C6-6D3B-4F99-AA0D-B229022E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EOH 会生成代码，但缺少系统性的搜索方向控制；TOCC 把选卡变成 trace-conditioned action。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9E14F-DF19-44BA-B7EF-F6D5FE7B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57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B4424-869A-4AC8-8775-2FCBBE2E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EOH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D220F-DCC3-477B-B1CF-93A31D25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population / mutation / LLM code generation /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EF0CE-F687-4C7E-9229-E2EE5505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66900"/>
            <a:ext cx="257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3752A-510B-4BAB-BCD5-EB3DAD0F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0BC54-5D89-4FB6-9E74-713E5A18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operator cards -&gt; prompt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AC1F-2494-43AC-885A-5AA1B57A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F604E-5C93-4DC5-B8E2-5EE5E47D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TOCC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03199-294C-425F-A2F0-83CF7E5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run trace -&gt; diagnosis -&gt; selected_card_ids -&gt; bounded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90343-4FCD-47C2-9856-EC62C40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145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9A3AB-126A-4205-A53D-41889A9E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145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38ACA-AEF1-4F14-A49A-3D3F108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9525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9929C-E61C-4706-B8B9-47419AAE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8B32B-7883-4A60-8ECA-1E964B56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普通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91797-EADF-4130-B82A-F3BBFD6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8C886-41D6-4D4D-975E-2224D68E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147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TOCC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4E1B9-12A5-445F-B732-A6EF4BDB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9613D-0199-44F7-BB22-A5620461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-&gt; top-k cards -&gt;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70C2F-2BC8-4DD6-9031-E9C48BCD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16B10-0EF5-48CF-B9D7-BE4C6B7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767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trace -&gt; diagnosis -&gt; selected cards -&gt; gate -&gt;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7AAAC-AC39-40A5-8E71-1B81EF3E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254CA-AB8F-4F68-B4AD-0231B2F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只能说明检索到了什么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DBEEA-4024-4F83-A6A4-2C7D53E5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E1B6F-DD6B-4B34-B526-D4505B6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76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能解释为什么选卡、是否注入、是否坍缩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3DC516-DA71-46D2-913B-FBD2945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97CF0-4D03-4525-BB40-16E5C02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失败时难归因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4B2C8B-891B-4C85-B573-2A5CB8F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006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F257A-7180-4B58-9FFC-29F74521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768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失败被拆到 linkage / generation / objective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F3B59-F9A1-474F-9F9E-326A6B54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25CC6-CAB8-457F-99D9-71389117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8131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0269D-F8FD-4474-954C-F7043F95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METHOD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2DEFE-AF25-4226-A410-D350B37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原理：控制 LLM 生成启发式程序时看到的先验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4131C-5A81-41F6-9385-FE23582A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控制对象不是采样点，而是 operator-card injection 这个生成 bias。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50586-C9E1-4F1A-9C73-2145C2CD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191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7cc31f544ab5"/>
          <a:stretch xmlns:a="http://schemas.openxmlformats.org/drawingml/2006/main"/>
        </p:blipFill>
        <p:spPr>
          <a:xfrm xmlns:a="http://schemas.openxmlformats.org/drawingml/2006/main">
            <a:off x="851368" y="1676400"/>
            <a:ext cx="7707964" cy="4305300"/>
          </a:xfrm>
          <a:prstGeom xmlns:a="http://schemas.openxmlformats.org/drawingml/2006/main" prst="roundRect">
            <a:avLst>
              <a:gd name="adj" fmla="val 177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3804-65BF-4214-B3EC-647AC1E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7640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FAA1E-404E-40AC-8A0E-9693AAE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TOCC 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2703-E848-40D0-A4FD-1FF2962F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952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输入: run trace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动作: 选 cards / query / run config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对象: LLM 生成代码时看到的 prior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边界: 不替代 EOH 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EC31F-B672-45D2-B242-09BFFB5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75146-F10F-4A7D-93B5-76A04C48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类比关系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7BD21-06CF-41CB-98A1-B0B3D0F5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05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MCTS: selection policy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BO: acquisition function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TOCC: card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BB726-C468-402A-BA08-D4D08ED5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00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图源: 本地 draw.io，PNG/SVG 均嵌入 XML，可回到 draw.io 编辑。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A0978-C349-429A-840A-988986B3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42BAF-F751-4269-B88C-B2F39A76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1560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B495C-EEA8-46F7-A69B-101F2989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OPERATOR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9C7E-6641-40AE-809C-696AE096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的 action 是选卡，不是直接改代码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5F00B-5443-4194-A436-C1E0AB21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分类先行：策略、接口约束、历史记忆、失败警告分开路由，避免 context 被污染。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FE649-83A9-4D67-8C7B-12745818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6680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0040C-3F8E-46D4-B98B-B31D53D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CA835-097E-4DC9-A498-50834423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CE7F6-AF2C-46D0-A69A-8A098060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76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0CAB1-FEE7-4553-B7C9-E10D284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716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7BBCE-CB41-4BD4-81A8-4066E401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D3A90-C6B0-49CF-8C37-F3F1D81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716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是否进 top-k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3B303-67B6-4FCB-BC75-4E1A3C1A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07B0E-E169-4366-BF53-EEEC421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7165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78AA0-0DF8-4B6A-859A-C5BAE96E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97D31-247C-4B7F-861B-05EA1CDC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api_constraint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CAFFF-846B-48AB-8634-F7ADC23F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1767A-5DA9-4B17-A3D8-4333869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手工接口规则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688B5-9A2A-4546-A248-499424C8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3BEFD-7D2C-4B7F-8BCB-5202767D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否，固定前置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BEA99-F0BB-44E3-BFE5-46D1C520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8118F-B8F1-4CC5-A4AA-750B109D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函数签名、fallback、返回值、API 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5CB3A-B7B0-41D7-9847-FE23EAC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4CBFB-CB80-44F3-BE98-44C78F1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literature card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80FA3-C6DE-4F9F-9284-10C7A00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77EDE-92C6-4F20-81D9-78FD9E05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文献/经典启发式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03471-6488-4D6E-90A5-71160AA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527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AC037-75CC-47E8-9D8A-62785387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CE603-713C-41D9-895B-EF9EEB6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A9F3A-0199-484F-9E20-B8EED00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提供 regret、farthest、savings 等策略 prior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27884-00B4-4B59-800D-895ED829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8AF34-3ACC-46AB-BDC5-C6DA3D11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history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846F4-3885-4CF8-B56F-F702464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F74FA-B111-4A40-9FE8-C96F1DF0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242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best_code 自动合成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AAC3D1-16D7-44A2-830F-2B16500D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C50D3-E76F-4588-9530-E2346ED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是，但受 gate 约束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8C038D-459C-4A09-81A0-625E95C4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D16506-A527-49EB-9FFA-C7055BF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复用已发现代码模式，必须小算子化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38779A-E5FD-4529-AF26-5EF1BAA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350297-CC9F-4E92-85C3-BE42A695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failure warning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8F2B32-DB5F-4474-8F84-8D5C2AE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5F6D09-8CEA-4F2D-85D4-D8DCF63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guard / 失败经验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BD9F52-5CFA-4D2A-9DE3-4186D627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F54C1A-87AC-43F5-91DF-46A9772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否或弱注入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0AC627-75E4-469D-B40A-D9789399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433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8515BC-F2F1-4F06-B414-60656C2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提示 timeout、invalid、suspicious-low 风险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4A3AC5-04A4-428B-93C7-3DB8A6A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981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3900C1-DFDF-4780-A9F3-0F5F413E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Skill card 格式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A221C4-5A17-4245-80C6-4D938F8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/ When / Do / Fallback / Safety：每张卡是短过程指令，不是长参考文档。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7BF42C-922F-4769-8332-80AB70D1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关键原则：api_constraint 不参与检索竞争；failure_case 不占用 strategy top-k；history card 要通过 prior audit。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8FA71A-F999-4495-B368-3FBE6FF8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4D98A2-F125-4963-8CFC-9BA6D93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5446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C6F73-FA18-4DD6-8F2B-3A605AF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76F7A-4575-491E-9C85-03B752CA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 TOCC 代码结构：controller、runner、summarizer 与 memory 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B6B7F-E3CC-4C50-87B5-E044A70E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Python 层负责实验控制；官方 EOH 仍负责启发式代码生成和 evaluator。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0C821-C72A-4952-AC8E-F99A02D3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9537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80E53-3C5C-4283-88AA-C64B8C84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DB1E8-C0D3-408D-8854-5FBCE77E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F2A69-F95C-43C8-9772-916B602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FE41A-04D2-4A89-9496-CC39945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67640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代表文件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4C4F0-DD19-4D97-A803-6EA709F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523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FAE70-8B30-411D-9CFB-F28B3A62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3B2A8-A1E9-40CE-9A8D-F436F30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93532-045F-4C33-B598-AEFF0B4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E48AD-1A82-4C7E-9967-87874AC7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621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C31A6-E6C5-4470-BB11-15762831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3835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eoh_runner/target_spec.py, registry.py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598EB-B7A6-4BE9-97E1-DBAC5BA6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104AF-8CAB-438B-92E1-902B4FE6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 TSP/CVRP/BP 等可进化目标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6AB24-00B3-4673-B884-6AB0FA0F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6F648-2E30-4DAB-BD81-83C2BD0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官方 runner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1B73E-6F79-49AA-A3E3-E757955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2887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3A2D8-DDC0-4D0C-A15A-9C2E98E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experiments/official_eoh_run.py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7AB58-3C43-4D30-91E5-B404EFE3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28875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8F430-9DB8-476C-AF25-2BEAF59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构造 RAG context，调用官方 EOH，输出 run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4B2DD-2E02-4888-8C4E-EC403A60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8E727-0491-4291-B73B-708691B0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5BA02-57BD-452D-9953-3F7192DA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9560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6095F-8A6E-4D9A-8B4D-BA61B569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operator_card_controller.py, tocc_agent.py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A0488-3E38-43FA-83D7-590EC83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1C8BE-1097-46D3-A591-48750844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规则诊断 / LLM proposal / card selection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F9A6A-7794-45E5-91AA-5BFDF5D9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1BAAE4-E378-4976-BA30-98F61A21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Gatekeeper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C3D6A-4017-45B5-A902-6F3E5627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6232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AE410F-81F2-4B68-9B46-7194A4A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3852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tocc_gatekeeper.py, card_prior_decisions.py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D2917-5574-4913-AD6F-C96F947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B18CA4-A051-46A7-BA73-CEB70F0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38525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 proposal、cards、prior decisions 和风险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0304F9-DFFB-429C-9E7E-B67AE5A7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A0BD5C-E433-4DDF-8840-A6BBB00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Manifest runner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A26FBE-A434-4722-A8C0-BEC858C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290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1EAB5-932D-452A-B60C-EACEFEF3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0525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run_experiment_manifest.py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2B4AEB-3223-4B47-80B5-809CC670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B3541-186E-4E26-8EE6-B9EC19C7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展开 arms/repeats，支持 selected_card_ids 精确注入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B5850-9D34-4EEF-9E96-3E579BA4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FE5894-93AC-4FB0-B03E-445F7F1D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Auto summarizer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F3F428-6336-448E-8086-3BB18DE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9577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5ECB56-E1FD-42C5-9578-8727FE4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7197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summarize_manifest_runs.py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F9FEE2-4249-4C78-A8A7-C9C50226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95775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8D9A82-0C25-4D2F-9C47-98B2717C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71975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汇总 objective、valid、best code、success funnel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88ACEA-036C-4285-B0DB-2C3AB89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52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08E6E0-BF25-4627-A5D4-08DF2BFC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37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 + Memory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EA024B-DB94-49B2-B5A4-CF34D68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B959E2-5B6B-487D-A4DF-5DC77DD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3870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rag/build_corpus.py, prompt_context.py, card_synthesis.py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10B8CD-F6BE-4B94-BA27-2D6A9C2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523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8B4FBD-A840-4A52-A767-4335635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508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加载 cards、格式化 prompt、从 best_code 生成 history card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5FD2C4-D7B4-4B22-94C4-2B792823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825A02-8ACA-4B51-8985-F87ABB2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8598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5464A-5B30-4B06-8FE4-21BC494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EXECUTION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6E86B-442C-4D2D-A5FA-93D7AC3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V1 / V2 / V3：从规则诊断到 bounded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946CE-D92E-4267-94DA-5E789DA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 V3 是受预算约束的小闭环，不是无限自动大矩阵。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4B62E-8110-499E-A4E4-3AAC7696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28FC1-C265-4398-A613-B643086F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V1 规则 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E7FDA-4E3B-4F66-8742-9C22CCA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summary -&gt; diagnosis -&gt; selected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CCA5E-8F92-4B12-AB03-04A33ED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0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37970-1BDC-4A18-B44F-EA7479E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D385-3ED7-4B4F-AA08-EDF6AE6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V2 LLM proposer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D0370-F76F-4061-94A3-442BCDC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proposal -&gt; rule gatekeeper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BB8EC-EB9B-489A-AF18-E3B8CC4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00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64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304FC-DBD4-4C71-ABF5-159A253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E1DBB-BF1A-48E0-842F-AE5299C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V3 bounded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50C5B-DDD9-4765-9B5F-C21B6818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manifest arm -&gt; official run -&gt; summary -&gt; next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619AB-8DB0-4974-B5F6-F0F3C864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6E37C-D7F3-4D4C-BF72-D7307869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2ACF8-C744-439F-AFE1-42A15A26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7BBD1-A2B4-4A95-8E8B-1F19742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6A5C9-8485-48EE-82A4-05BFAE7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D9EBD-09AE-4E91-848A-A7A346AA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proposer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D5F99-36FB-46C7-AC8C-4A76346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提出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5FF88-880C-4EC9-86EC-452776DB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4B461-A016-4303-9598-DD5273DA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3B06D-43E4-4D65-AFF3-F02E8A0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FA9DA-E482-426B-9A6C-DB5FE24C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C0B6EF-926F-44AA-976E-752E7AD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5E342-A6A9-42D9-A2BD-51ABAA9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61544E-7B2D-4D90-A65D-228B77CD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30FBE-3B42-40E4-A4E8-E816A9B3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D220F6-DBD7-441E-A796-46D05C04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AD0416-41B1-46F3-B583-FE24DC9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E3D96-B8F9-4A65-B730-75CBA1AB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20B481-0AE6-4746-B990-6C7E2AAD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汇总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EE572-B3B3-4666-841E-88C0F355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9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4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A6734-C83B-4143-A9C9-BAF5AE2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71950"/>
            <a:ext cx="1314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F89664-B7CD-4649-AD1B-3671E80B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3A0079-F875-4AA2-9366-C51A73C6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2A4CAE-7B4A-4E07-BA7F-B08D5ADE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05947F-2BB6-4DF1-91C1-5CB9561E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8343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92D24-6836-4184-9C28-29CA9D1B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SUCCESS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986CC-484B-44EC-97CF-844E31E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 不只看 objective，而是看 agent 是否真正成功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9E715-36C7-44C6-B32E-81801BC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default_rag 可能 objective 看似不差，但 generation 层坍缩到 seed，不能算有效搜索。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E1AC3-6BEC-4EDF-9B66-911559C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885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580F5-9888-4083-9BA3-659D0FF3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90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Proposal Accept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06250-A3A0-4DD6-A55C-9C4093D2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02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gatekeeper 通过，无 infra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04F4C-892E-4417-9CB6-EBCE5D2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7981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945DE-24E4-4185-8A42-FF5A3A48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514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Linkage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857F5-7131-4583-8A4F-AA917FA0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selected_card_ids 与实际 rag_trace 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DEB7-7230-4AF1-8370-86F1F9A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05150"/>
            <a:ext cx="7105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1CBF0-471B-4564-A998-FA79AE6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38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FDDA8-5642-42B7-80A6-0FF0DB40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480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valid candidates 达到阈值，无 valid collapse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630FD-EC7B-40DD-B134-6AF44AE8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29050"/>
            <a:ext cx="6229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F591E-1DA2-4591-BE37-0E923E67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62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AE514-34F2-4BFC-A499-A81F7063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719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best objective 优于 pure baseline 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4B6ED-3ADB-49EF-8A3E-5C41895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52950"/>
            <a:ext cx="5353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C4DFF-706A-4A88-85F2-D471BF0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86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Diagnosis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A6382-BF61-4258-8FA1-6F0042A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958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诊断引用 trace 证据且与 trace 一致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75675-8DE7-4EFE-8AC6-52D0758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3812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8D081-2754-47C5-A529-4236D7DA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778D9-8BA0-4A91-8F0F-DA0DCE4F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把失败定位到 proposal / linkage / generation / objective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避免把 seed 回退误写成算法提升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为后续 agent 成功率统计留字段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ED965-14A8-4B71-9A5A-909B3D5B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A33AC-01C7-49C4-9B86-09B0C337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4344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0AB47-CA89-4B74-89FF-EC7FB872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CVRP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D37BB-9280-4A42-B382-1252FEA7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CVRP 是当前最可靠正面证据：选卡改变搜索方向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5D897-8B0A-41D9-AF71-740225B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tocc_corrected 在 8 次重复中全部优于 pure mean；default_rag 5/5 generation collapse。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581C7-F367-48A4-9D58-F1FD5173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pure_eoh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25E93-0E1E-4A25-B547-80B2FBB0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20EA1-3DB0-4C84-85B0-F5CCDEE5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390538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F6172-5C0C-45B4-A73C-A047ED41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45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13.540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7D0E6-C3A9-481C-A807-01DD6E33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n=8, valid 8/8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1D65A-7C95-4933-A7E5-C77ECDD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default_rag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96B41-2F41-449E-8738-F098F8E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2237F-92F2-4A50-961F-A6B72779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383125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52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3BBBA-2556-43D1-81CA-E9F44494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rPr>
              <a:t>13.283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BF765-74C6-4F47-B883-59CDD65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n=5, 0/5 generation 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76EE9-0BC3-471B-9377-BF667FD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56959-A995-49D1-8D1C-6211F43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90729-4DAC-4330-A2D3-53A8B24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374241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5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8CF2-A0BF-445A-8E36-5A168C23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12.975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9A314-2991-48CD-B4E7-88050DB8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n=8, 8/8 优于 pure mean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0FEEF-A4C1-461D-99FD-7FE7A300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2857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9E317-E8BA-4BB8-86D7-95C6301C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6B00"/>
                </a:solidFill>
                <a:latin typeface="Microsoft YaHei"/>
                <a:ea typeface="Microsoft YaHei"/>
                <a:cs typeface="Microsoft YaHei"/>
              </a:rPr>
              <a:t>核心差异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DB532-B0F2-46BC-AA2D-A6746AE8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card swap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7F8D2-B408-4298-8E24-0BAD6B7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cvrp_nearest_capacity -&gt; cvrp_regret_insertion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4342E-01B8-4D7E-A36C-0B37B39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2857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0DD1D-22BE-40C5-A44A-2F5F70A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改善幅度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8ABDE-3B18-40F1-BA51-BE85483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024C5-E1A7-44D3-8D43-471F2D34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平均 objective 相对 pure mean 下降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993A5-237F-4C2A-B69C-4AB8E6ED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结论：不是“RAG 自然有效”，而是 trace-conditioned 选卡让 generation 和 objective 两层同时通过。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665E1-1582-40DE-91DB-1287F86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B86B6-8205-41C3-ABDC-18EB674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6005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1E3F87-8EB6-4C62-8D95-581B986D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TSP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AF1FF-0386-45C4-A906-2D126F9D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TSP 有方向信号，但还不能写成稳定证明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1E9F7-CA6F-48B5-BDFB-D4B45BA9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gen=0 方差很大；gen=4 后 TOCC 有小幅 exploratory positive。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29071-81E8-46A3-9826-54E79CC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349BF-0538-4112-9862-34A6D824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D0FA7-F556-40CF-A58E-FDC0AD3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406AA-D78A-4381-B78D-878A7493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5B571-8298-4C50-BA69-8FF3AE74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7BEC7-006A-4E7F-AB3F-C8F46DD6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C6231-3227-4F69-A1AE-C772CA09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31906-E32B-4C19-830B-E8CB01B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96978-8B23-44F9-BD1B-C5F06952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792BF-148B-4B13-84DD-E0A4801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4FAFD-D05A-4D79-8C01-D425725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B7FA3-BE6C-4318-A1C3-C2D8469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0C8C2-8617-4A8D-8128-BB682729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22187-7ABD-419B-8DE1-E4362884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2FDAB-D076-4EF4-BF8A-46F8908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pure_eoh gen=0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CE1E1-94AB-4D30-AA30-6DEA5B9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F65E1-FFEB-4AC2-995C-C22F6863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DB8C0-34AB-47AF-BCE4-F6CEF34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0D271-E556-4437-BDBE-A5CBD311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6.751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90BD2-8A38-4F84-86D3-B27C2347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D7204-40F3-4AD3-A45E-3AB3ACC7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6.590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A2E53-985A-4CAB-8283-5686B8E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0C134-A3D9-4ED9-842C-262FA4D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7.057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628AE8-6264-442C-AE07-B3425AEC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C9A0D-B6B8-4860-94E5-08D8319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方差较大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6535F-D4E4-40FE-8324-194D0F9F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D0EC6-EA3F-462B-B96E-B3D0DF37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tocc_corrected gen=0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1D7EC0-4613-45F9-9D95-CBDF52B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51D683-A0BB-45A2-A5BD-470E416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C3420-E573-4CEA-AFAA-BADBF425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A79A1C-D3D4-4999-9718-A8D13B20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7.372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CAD767-F024-40C9-9FF8-D5DC2816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C8AFC3-C2B0-4B0A-A77A-68D0FF0D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6.189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A9AC7-29DC-4459-BFAB-3A91D9D9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E40AAB-8FD7-4DF6-B9BB-4AFC2E39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9.656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176971-0456-4595-AD73-32DE5179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EA3A2E-6E26-4271-90FE-06EDA37B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同卡组合 outlier 明显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F6E152-A232-4F34-B811-FF6596DF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581303-B5CD-46D2-813C-2C06E9F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pure_eoh gen=4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DEF20C-0F24-4016-A15F-28CB6947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FF04B3-B439-4B08-A9B7-8B88C5A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B95204-B264-4E6B-AF38-9F64365A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8DB196-C7E7-48EB-9F5F-50F16D13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6.548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FA72E-C828-4BCA-8637-1F30A62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9D085C-80BC-4986-8AB0-59647547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6.430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480882-40FD-4283-8468-DFF0F2C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1907BA-F2EB-4135-952A-90A5639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6.608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2912CF-825E-4A74-823F-E1A5883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BCA734-E7CC-48DB-B235-FC4CE45F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进化深度降低方差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6225C0-1CFB-4E2B-9E7D-E6C292F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E01543-6DF9-43F4-8022-C7872E3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tocc_corrected gen=4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7979B3-397B-48E8-AA70-6ED4552D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F5A5A0-0833-4C60-88CC-45548EB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69F339-C35A-4913-B944-64D80B91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D5BB67-390D-4CE3-8740-3247910F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6.456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79D452-3B16-4D61-A6C9-D46B0C82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62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7146F6-963B-4912-9874-E31C7699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6.292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280E49-0C57-4DB1-847D-A3F92BF0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623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326AA9-0ACC-4ED5-8BE2-AD2E0ED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6.615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41F0B5-1304-449F-A3D4-5CF7CAFC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623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281A4-654E-4EA8-9472-4A12575E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小幅正向，约 1.4%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E22980-1E50-482D-BA91-5B8E1269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933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6741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84E2E0-6EF0-49AA-A3E2-D54A78E1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41D9"/>
                </a:solidFill>
                <a:latin typeface="Microsoft YaHei"/>
                <a:ea typeface="Microsoft YaHei"/>
                <a:cs typeface="Microsoft YaHei"/>
              </a:rPr>
              <a:t>写法边界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21A179-A67E-4668-BD11-4B60F0D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当前只能写：TOCC 在 TSP gen=4 下出现 exploratory positive；需要更多问题/benchmark 支撑论文级主张。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482EF9-53AF-4A3B-AA2D-B0F14A4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586BE2-F290-492D-BF48-C6C095C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4135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DEFC9-1EE2-4AAB-A4AA-80784586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HISTORY-CARD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B9491-16EF-49A7-A9BD-8A2FD2E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历史代码记忆已接入闭环，但不是默认增强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FEDB3-9475-4F8B-9846-6EFBA86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best_code 可以合成 history card；但复杂历史 prior 需要拆分、审计、降权或阻断。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0317D-637A-46AC-9A56-35A4F075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013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A89CD-CC3D-45B7-8092-0BC78F3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34773-A768-4466-AEE5-044E5F4A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5909B-C7A7-4309-A087-9DD4D768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811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9562C-225B-443C-802D-A00B270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5E9EE-7999-460A-BB88-F022AD3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811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E0110-A919-442C-9197-A7B81E2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76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best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CDD7C-C85E-4C29-A453-EE06D87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811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3F835-3F89-4B27-A0C4-5EFD6D7D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A5134-BA96-462C-9F5F-E146B9F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8115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85702-DDAA-4B5F-B877-2258F050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33FBF-55EA-462B-B90B-ACCBE7D0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79C21-F24A-4473-A64C-9B9FD2C8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naive 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5A445-D708-4137-BC49-F6C31C59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62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E0661-0567-477D-98C0-D217140C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literature_regret_far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471CE-9C52-4C26-8F67-C590D7B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621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3E95E-A047-4B94-9DBC-A0638D2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13.094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70AB0-55AC-4500-838B-664ADC8C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B60EE-6DB0-4791-843D-440B059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42801-72F0-4E42-A48E-5F517487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21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5AF9E-EDEE-4DF3-911E-3F8BAF6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文献卡更稳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EC3AA-AB54-4DF5-BF83-FB0243A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CC9845-0B4C-47EC-B498-2BF9883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naive mixed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05480F-6BDD-45BD-9913-35B4017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193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E32F4-75E6-4B30-8D1F-63B9C2BD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mixed_history_far_regret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E9A05-A7F8-4755-A8F5-6E524B8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21B73-8821-4568-BB76-E353B99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955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14.210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9DC5DE-7455-4F11-B0B8-E355808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F624D-4D22-4D38-A82F-72877BC9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6BFE5-DA67-49E5-8C8C-72028AE8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454CF-3F04-4DC4-860A-E2795DE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复合 history card 变差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45CE1D-BD02-4140-BAB7-E96BED2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1529FB-4506-4129-AD6A-4056FC9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579BE-D8F8-470B-ADFA-8041A1C9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27382D-D3C8-4EC7-8323-1DC9465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literature_regret_far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8D8CE-A2AE-4A38-9B2D-80D2E0A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765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B345DC-BA2C-4ADC-AC3C-4522010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12.728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493AA6-16FA-417D-B22C-DC4710BD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015AC6-9BD1-40D3-B78B-E1EB4F56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A58796-3C04-4D5A-8D86-BE4C923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4AF575-D011-4B2F-834B-BBC693EF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 best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5773EC-EFD1-4844-83A1-6A31B47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11BE72-79BD-4404-92C6-D28934B6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FE2313-A416-4AEC-96CF-3E4CF906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2495B8-E94B-4A2D-BED9-79A3837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99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split_far_seed_regret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07E468-A643-4662-841D-1C8B3CD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337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7C6CDE-966C-4012-A200-2D0633B0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13.005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3BA6AD-173A-4592-A546-57766A1D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9C22E2-31C3-4A4E-8CB3-6D4ACF17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E3649A-FD76-4BC3-9A84-9E4596E9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37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DE3060-9AD0-4CCC-86CC-FA099BD4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未超 literature-only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CA6696-BC94-46B6-A4C7-C1D5A9E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AF5D33-84DB-4B41-875A-AED0FF9F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4377BC-801F-408C-A1B9-EAF6A892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B2506D-AC7F-430D-A802-2B3F2F4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split_capacity_filter_regret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7BE8DC-31B2-40E1-80DD-363B55EE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909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1DC586-4DDC-4F12-BFC7-6D22AE24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13.236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C458AF-1F81-41B3-944C-3D9FC9F1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F5EB50-6BBD-4010-B375-240BE161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A0B3E7-4BA9-44FB-8BD6-AFD5366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C8DFC9-724F-4FDC-83EE-63DF2439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应降权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0C0803-F668-4DE0-81F6-6146C3A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E947AF-21F1-4EA9-A612-7CE662C9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 history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5D0125-7D7D-4AA6-8493-D34EC9A7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EF5E2C-79E9-4993-AF57-86BD5E4C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split_remaining_alpha_far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A795BE-5CB1-4BB4-8A86-982446F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481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31FEB9-7D45-450F-8E58-040246D3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243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12.961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D8CB8B-4F04-45F8-8D45-5A86018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1E92B8-171F-401C-AEA3-2A592D7F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7DB120-1DD0-4BFB-B43E-A6024C95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D59B389-C34B-4174-8D0B-19CDD56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watchlist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50A973-2384-4EB5-8CE3-1183F32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结论：history prior 可控接入；历史最优代码不能直接压成复杂大卡，必须拆成小 operator，并由 TOCC 基于 trace 选择。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25A2E6-F11A-4CDA-A7C8-89BFDDB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5CA2F5-5A3E-41F4-8812-AEB86688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06044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58E911-41F2-422E-A50D-28E3C26E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BEST 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B1F28-6027-4C98-AF07-4D2DAD89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报告必须展示代码怎么变，而不只写策略变化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79ABC-8DF1-45F6-B7E1-3EC2322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以下片段来自当前自动报告记录的 best code。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9006E-75A3-41B3-B4E9-464586EC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7D01B-2EA6-402F-A0E0-B4796745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800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TSP gen=4 TOCC best | score=6.29166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n_unvisited = len(unvisited_nodes)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dist_from_current = distance_matrix[current_node][unvisited_nodes]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dist_to_dest = distance_matrix[destination_node][unvisited_nodes]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regrets = []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for i, u in enumerate(unvisited_nodes):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    avg_dist_to_others = np.mean(distance_matrix[u][others])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FF62-4940-4F06-BD6B-491D3F08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32B03-A536-4CE1-B6D6-F0192219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800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CVRP split-history literature-only best | score=12.72795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dist_from_current = distance_matrix[current_node, 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dist_from_depot = distance_matrix[depot, unvisited_nodes]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range_curr = max_curr_dist - min_curr_dist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if range_curr == 0: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    range_curr =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847EC-FA05-49E7-9154-50D541C5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00550"/>
            <a:ext cx="857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088E5-1275-42D1-8235-18C009CF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52950"/>
            <a:ext cx="8229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CVRP history watchlist | score=12.96129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remaining_ratio = len(unvisited_nodes) / total_customers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alpha = min(1.0, max(0.0, remaining_ratio))</a:t>
            </a:r>
          </a:p>
          <a:p xmlns:a="http://schemas.openxmlformats.org/drawingml/2006/main">
            <a:pPr algn="l">
              <a:defRPr sz="900" b="0">
                <a:solidFill>
                  <a:srgbClr val="E8EEF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8EEF8"/>
                </a:solidFill>
                <a:latin typeface="Menlo"/>
                <a:ea typeface="Menlo"/>
                <a:cs typeface="Menlo"/>
              </a:rPr>
              <a:t>far_candidates = unvisited_nodes[dist_from_depot &gt;= median_dist]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739AD-D65B-4FD0-8AAE-FD1450F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C8A85-37B2-469F-9A02-FC5D736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48078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A7CCE-B85A-47F4-918E-961F4F02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BOUNDARIES &amp;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577B2-30CB-4E38-94FB-81E1C0F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当前能写什么、不能写什么，以及下一步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1670C-D464-4919-9A62-67FB606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边界写清楚比夸大结果更重要；下一阶段重点是新 benchmark 与实时探索 agent。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5029A-70A9-439B-9862-08BC94CA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63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8F8FA-842B-4CCA-A00A-99E90B0D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6352B"/>
                </a:solidFill>
                <a:latin typeface="Microsoft YaHei"/>
                <a:ea typeface="Microsoft YaHei"/>
                <a:cs typeface="Microsoft YaHei"/>
              </a:rPr>
              <a:t>不能写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084F7-0A3A-4019-AECB-BAF6E19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TOCC 已证明统计显著提升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RAG 一定有效或一定无效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TSP/CVRP 已足够支撑完整论文实验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History-RAG 已经带来收益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V3 可以直接自动跑大矩阵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22D3C-886B-47D2-9A6F-3CB89499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0F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13460-186A-4666-B720-0D0ACDC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8B5F"/>
                </a:solidFill>
                <a:latin typeface="Microsoft YaHei"/>
                <a:ea typeface="Microsoft YaHei"/>
                <a:cs typeface="Microsoft YaHei"/>
              </a:rPr>
              <a:t>可以写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A4BC-3C49-4B37-AD59-350FD575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TOCC 是 trace-conditioned operator-card controller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工程闭环已完成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CVRP 有 repeat-level positive signal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Success funnel 能解释 RAG 失败来源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history memory 已接入，但需 gate/audit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2A45C-7F49-4782-9ECF-5349A5BA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52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ED6DC-FD16-4CF1-9D4D-51532DC9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下一步：整理论文方法段；新增官方 benchmark；固化 exploration_analyst，实时监控 valid rate、selected cards、context truncation。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A81A5-725E-4CB4-B15E-8111EB4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TOCC current progress | local reports, 2026-06-19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939FF-458D-4CAE-AAB1-90806B1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7361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2026-06-18T23:49:24.1880000Z</dcterms:created>
  <dcterms:modified xsi:type="dcterms:W3CDTF">2026-06-18T23:49:24.1880000Z</dcterms:modified>
</coreProperties>
</file>