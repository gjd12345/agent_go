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24"/>
    <p:sldId id="274" r:id="rId25"/>
    <p:sldId id="275" r:id="rId26"/>
    <p:sldId id="276" r:id="rId27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uojiadong.9/agent_ad/agent_go/eoh_go_workspace/reports/tocc_summary_20260609_assets/tocc_cover_gp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080760" y="0"/>
            <a:ext cx="61081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713232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agent_go / TOCC 阶段成果总结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Trace-Conditioned Operator-Card Controller for LLM-based heuristic evolution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21792" y="53492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当前定位：框架闭环已搭通；CVRP repeat 证据最稳定；TSP 方差仍需收敛。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" y="58704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2026-06-09 | 本地实验记录汇总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结论不再是“RAG有没有用”，而是“选卡是否控制了搜索方向”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94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现有结果支持把研究问题从 context 注入切换到 operator-card selection / search steering。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52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</a:rPr>
              <a:t>18/18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9224" y="17556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repeat finished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9224" y="20299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TSP/CVRP x 3 arms x 3 repeats。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252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3/3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483864" y="17556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CVRP positive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3864" y="20299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TOCC corrected 全部优于 pure。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172200" y="1143000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52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766E"/>
                </a:solidFill>
              </a:rPr>
              <a:t>6.217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318504" y="17556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TSP best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18504" y="20299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V2 targeted 刷新 best-score。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006840" y="1143000"/>
            <a:ext cx="26060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1252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580C"/>
                </a:solidFill>
              </a:rPr>
              <a:t>valid=1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153144" y="17556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default risk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53144" y="20299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CVRP default RAG 有退化风险。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02920" y="2788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788920"/>
            <a:ext cx="64008" cy="2148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2916936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当前正面证据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7512" y="3218688"/>
            <a:ext cx="3319272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CVRP tocc_corrected repeat=3 均优于 pure；均值约 12.970 vs 13.596。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4297680" y="2788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2788920"/>
            <a:ext cx="64008" cy="2148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2916936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当前不确定性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62272" y="3218688"/>
            <a:ext cx="3319272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TSP 受 9.656 outlier 影响；同批仍有 6.189 新低。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8092440" y="2788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92440" y="2788920"/>
            <a:ext cx="64008" cy="2148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57032" y="2916936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叙事边界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57032" y="3218688"/>
            <a:ext cx="3319272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只能写 exploratory signal；不写统计证明或稳定超越。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local reports, 2026-06-09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2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项目已经从单函数进化升级为可复用的官方 EOH + TOCC 闭环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94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从 InsertShips 自定义 harness 到 TSP/CVRP/BP official benchmark，核心资产是可复用实验流水线。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13432"/>
            <a:ext cx="146304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278892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788920"/>
            <a:ext cx="64008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91693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InsertShips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3218688"/>
            <a:ext cx="15819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自定义 Go 函数演化；验证 API skeleton 与 guard。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953512" y="214884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2313432"/>
            <a:ext cx="146304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24912" y="278892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24912" y="2788920"/>
            <a:ext cx="64008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9504" y="291693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Literature-RAG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89504" y="3218688"/>
            <a:ext cx="15819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将文献伪代码重构为短 operator skill cards。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221224" y="214884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32704" y="2313432"/>
            <a:ext cx="146304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92624" y="278892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92624" y="2788920"/>
            <a:ext cx="64008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291693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Official EOH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57216" y="3218688"/>
            <a:ext cx="15819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对齐 BP/TSP/CVRP official targets，避免只在自定义任务上自证。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7488936" y="2148840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0416" y="2313432"/>
            <a:ext cx="146304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60336" y="278892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0336" y="2788920"/>
            <a:ext cx="64008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4928" y="291693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TOCC V1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24928" y="3218688"/>
            <a:ext cx="15819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规则诊断：trace -&gt; cards/query -&gt; manifest runner。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9756648" y="2148840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28048" y="278892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528048" y="2788920"/>
            <a:ext cx="64008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91693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TOCC V2/V3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92640" y="3218688"/>
            <a:ext cx="15819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LLM proposer + gatekeeper；bounded loop 已完成一次纠偏。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1051560" y="50749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主线变化：从“把 RAG 加进 prompt”变成“根据 trace 选择 operator-card prior 来 steering EOH 搜索方向”。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local reports, 2026-06-09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3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TOCC 的数据流把选卡、执行和证据记录串成一个闭环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94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draw.io 源图已保留，可继续编辑；PPT 中使用导出 PNG 作为方法图。</a:t>
            </a:r>
            <a:endParaRPr lang="en-US" sz="1050" dirty="0"/>
          </a:p>
        </p:txBody>
      </p:sp>
      <p:pic>
        <p:nvPicPr>
          <p:cNvPr id="4" name="Image 0" descr="/Users/guojiadong.9/agent_ad/agent_go/eoh_go_workspace/reports/tocc_summary_20260609_assets/tocc_architecture.draw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960120"/>
            <a:ext cx="11384280" cy="4983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eoh_go_workspace/reports/tocc_summary_20260609_assets/tocc_architecture.drawio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4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Algorithm 1: TOCC 方法伪代码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033272"/>
            <a:ext cx="6995160" cy="4892040"/>
          </a:xfrm>
          <a:prstGeom prst="roundRect">
            <a:avLst>
              <a:gd name="adj" fmla="val 1121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170432"/>
            <a:ext cx="6665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Trace-Conditioned Operator-Card Controller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" y="1463040"/>
            <a:ext cx="666597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M, C, E, B, 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&lt;- empty archive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= 1..K: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T_k, d_k &lt;- ObserveAndDiagnose(A, M)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S_k, q_k &lt;- SelectCards(C, T_k, d_k)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pi_k &lt;- Gatekeep(d_k, S_k, q_k, B)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pi_k accepted: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R_k, V_k &lt;- ExecuteAndVerify(E, M, pi_k)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 &lt;- Archive(T_k, d_k, pi_k, R_k, V_k)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Stop(A, B): break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8001000" y="11430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01000" y="114300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65592" y="1271016"/>
            <a:ext cx="3246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抽象层级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65592" y="1572768"/>
            <a:ext cx="322783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trace -&gt; cards -&gt; gate -&gt; EOH。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8001000" y="26974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01000" y="2697480"/>
            <a:ext cx="6400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2825496"/>
            <a:ext cx="3246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复杂度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65592" y="3127248"/>
            <a:ext cx="322783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controller: O(K * |C|)。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001000" y="42519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01000" y="4251960"/>
            <a:ext cx="64008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65592" y="4379976"/>
            <a:ext cx="3246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源文件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65592" y="4681728"/>
            <a:ext cx="322783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完整 algorithm2e 已保存。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gen-pseudocode-skill / algorithm2e reconstruction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5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18/18 repeat 结果显示：CVRP 稳定转正，TSP 仍受方差支配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94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数值越低越好；TSP 当前不做稳定性结论，CVRP 是可优先汇报的正面证据。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51560"/>
          <a:ext cx="6766560" cy="4251960"/>
        </p:xfrm>
        <a:graphic>
          <a:graphicData uri="http://schemas.openxmlformats.org/drawingml/2006/table">
            <a:tbl>
              <a:tblPr/>
              <a:tblGrid>
                <a:gridCol w="822960"/>
                <a:gridCol w="1325880"/>
                <a:gridCol w="868680"/>
                <a:gridCol w="777240"/>
                <a:gridCol w="777240"/>
                <a:gridCol w="2194560"/>
              </a:tblGrid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Problem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Mean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r1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r2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TSP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pure_eoh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6.751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6.608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7.057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 repeat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TSP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default_rag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6.756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6.273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7.194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不稳定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TSP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tocc_corrected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7.618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9.656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7.010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r3 init-only 新低 6.189；r1 outlier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CVRP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pure_eoh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13.596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13.565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13.611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 repeat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CVRP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default_rag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13.283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13.283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13.283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valid=1，退化风险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CVRP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tocc_corrected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12.970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12.738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12.888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3/3 优于 pure，当前最可靠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23444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3441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-4.6%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872984" y="1847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CVRP TOCC mean vs pure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72984" y="2121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12.970 vs 13.596，repeat 级正向信号。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7726680" y="278892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28986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580C"/>
                </a:solidFill>
              </a:rPr>
              <a:t>9.656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7872984" y="34015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TSP outlier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872984" y="3675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该 run 使均值失真；需回看 trace 和候选分布。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7726680" y="434340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0" y="44531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766E"/>
                </a:solidFill>
              </a:rPr>
              <a:t>6.189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7872984" y="4956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TSP init-only new low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72984" y="5230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同一批 repeat 内仍有强 best-score 信号。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user-provided 18/18 stabilization repeat snapshot, 2026-06-09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6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TSP 的证据是“潜力明确但方差未稳”，不能直接写稳定超越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94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V2 targeted 出现历史最优，但 stabilization repeat 中 outlier 说明还需诊断。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24128"/>
          <a:ext cx="5623560" cy="4023360"/>
        </p:xfrm>
        <a:graphic>
          <a:graphicData uri="http://schemas.openxmlformats.org/drawingml/2006/table">
            <a:tbl>
              <a:tblPr/>
              <a:tblGrid>
                <a:gridCol w="1234440"/>
                <a:gridCol w="1097280"/>
                <a:gridCol w="1463040"/>
                <a:gridCol w="182880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Setting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Best / Mean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Cards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解释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pure init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6.839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default RAG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6.840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nearest cards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与模型自发策略重合，基本无增益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targeted smoke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6.475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regret + farthest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端到端链路通过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V2 agent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6.217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regret + farthest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 best-score 最强信号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repeat tocc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mean 7.618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regret + farthest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 9.656 outlier 影响，需排查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09728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92240" y="109728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56832" y="1225296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机制解释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56832" y="1527048"/>
            <a:ext cx="47823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regret + farthest 引入 lookahead 和 isolation 信号。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6492240" y="251460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514600"/>
            <a:ext cx="64008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56832" y="2642616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不能夸大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56832" y="2944368"/>
            <a:ext cx="47823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TSP 有 best-score 潜力，但 repeat 方差仍大。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492240" y="39319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92240" y="3931920"/>
            <a:ext cx="64008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56832" y="4059936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下一步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56832" y="4361688"/>
            <a:ext cx="47823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回看 9.656 run 的 trace、候选分布和代码结构。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local reports, 2026-06-09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7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CVRP 是当前最可靠的正面证据：TOCC corrected 在 repeat 中 3/3 优于 pure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94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default RAG 虽均值低，但 valid=1 退化，不能作为主证据；targeted / tocc_corrected 更可信。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97280"/>
          <a:ext cx="6492240" cy="2148840"/>
        </p:xfrm>
        <a:graphic>
          <a:graphicData uri="http://schemas.openxmlformats.org/drawingml/2006/table">
            <a:tbl>
              <a:tblPr/>
              <a:tblGrid>
                <a:gridCol w="1234440"/>
                <a:gridCol w="914400"/>
                <a:gridCol w="2651760"/>
                <a:gridCol w="1691640"/>
              </a:tblGrid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Mean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Run-level evidence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Validity caveat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pure_eoh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13.596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13.565 / 13.611 / repeat baseline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 正常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default_rag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13.283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三次相同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valid=1，疑似 recipe/退化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tocc_corrected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12.970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12.738 / 12.888 / third repeat better than pure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当前最可靠正面证据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115568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2252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12.970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690104" y="17282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TOCC corrected mean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690104" y="20025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低于 pure mean 13.596。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7543800" y="2532888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26426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A34A"/>
                </a:solidFill>
              </a:rPr>
              <a:t>3/3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7690104" y="31455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run-level direction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690104" y="34198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三次 repeat 都优于 pure。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7543800" y="3950208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0" y="405993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766E"/>
                </a:solidFill>
              </a:rPr>
              <a:t>regret + far_first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7690104" y="45628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stable selected cards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690104" y="48371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CVRP 当前应优先稳定这组卡。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local reports, 2026-06-09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8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TOCC 改变了生成代码结构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960120"/>
          <a:ext cx="11109960" cy="777240"/>
        </p:xfrm>
        <a:graphic>
          <a:graphicData uri="http://schemas.openxmlformats.org/drawingml/2006/table">
            <a:tbl>
              <a:tblPr/>
              <a:tblGrid>
                <a:gridCol w="1097280"/>
                <a:gridCol w="1234440"/>
                <a:gridCol w="2743200"/>
                <a:gridCol w="2194560"/>
              </a:tblGrid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Problem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Best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Cards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Role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TSP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6.21694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regret+far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best-score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CVRP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12.82084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regret+far_first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targeted best</a:t>
                      </a:r>
                      <a:endParaRPr lang="en-US" sz="8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94360" y="1938528"/>
            <a:ext cx="5440680" cy="3520440"/>
          </a:xfrm>
          <a:prstGeom prst="roundRect">
            <a:avLst>
              <a:gd name="adj" fmla="val 1558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2075688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TSP: regret + isolation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58952" y="2368296"/>
            <a:ext cx="51114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regret_val = max(0.0, two_hop_min - d_current)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scores.append((0.4*iso_factor + 0.6*regret_val) / d_current)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unvisited_nodes[np.argmax(scores)]</a:t>
            </a:r>
            <a:endParaRPr lang="en-US" sz="840" dirty="0"/>
          </a:p>
        </p:txBody>
      </p:sp>
      <p:sp>
        <p:nvSpPr>
          <p:cNvPr id="7" name="Shape 4"/>
          <p:cNvSpPr/>
          <p:nvPr/>
        </p:nvSpPr>
        <p:spPr>
          <a:xfrm>
            <a:off x="6263640" y="1938528"/>
            <a:ext cx="5440680" cy="3520440"/>
          </a:xfrm>
          <a:prstGeom prst="roundRect">
            <a:avLst>
              <a:gd name="adj" fmla="val 1558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28232" y="2075688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CVRP: far-first + distance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28232" y="2368296"/>
            <a:ext cx="51114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current_node == depot: return farthest_from_depot(unvisited_nodes)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normalize(cur_dists) - depot_distance(unvisited_nodes)/max_depot_dist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unvisited_nodes[np.argmin(scores)]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auto_experiment_reports/tocc_best_code_records.md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9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V1 到 V3 的自动化重点是逐步减少人工选卡，而不是放开模型直接控制实验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94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LLM proposer 只给 diagnosis/cards/query；gatekeeper 保证预算、执行、路径等字段不可越权。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31546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64008" cy="2926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08176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V1 规则控制器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87552" y="1709928"/>
            <a:ext cx="2862072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hardcoded rules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trace -&gt; diagnosis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cards/query 手工规则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4434840" y="1280160"/>
            <a:ext cx="31546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280160"/>
            <a:ext cx="64008" cy="2926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408176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V2 agent-assisted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1709928"/>
            <a:ext cx="2862072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LLM proposer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rule gatekeeper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bounded real runs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1546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280160"/>
            <a:ext cx="64008" cy="2926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1408176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V3 bounded loop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11312" y="1709928"/>
            <a:ext cx="2862072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observe new trace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propose correction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max iterations gate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4069080" y="2697480"/>
            <a:ext cx="320040" cy="0"/>
          </a:xfrm>
          <a:prstGeom prst="line">
            <a:avLst/>
          </a:prstGeom>
          <a:noFill/>
          <a:ln w="2032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80960" y="2697480"/>
            <a:ext cx="320040" cy="0"/>
          </a:xfrm>
          <a:prstGeom prst="line">
            <a:avLst/>
          </a:prstGeom>
          <a:noFill/>
          <a:ln w="2032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49834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定位：Trace-Conditioned Operator-Card Controller，不直接声称是泛化 ReAct agent。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local reports, 2026-06-09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10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论文材料必须把证据强度说清楚：当前是探索性信号，不是统计证明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94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这一页可直接作为导师汇报的 validity boundary。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051560"/>
          <a:ext cx="10835640" cy="4343400"/>
        </p:xfrm>
        <a:graphic>
          <a:graphicData uri="http://schemas.openxmlformats.org/drawingml/2006/table">
            <a:tbl>
              <a:tblPr/>
              <a:tblGrid>
                <a:gridCol w="1600200"/>
                <a:gridCol w="3657600"/>
                <a:gridCol w="5577840"/>
              </a:tblGrid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TSP 方差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repeat 中出现 9.656 outlier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先诊断 trace，再决定是否 gen&gt;=1 复跑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default RAG 退化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CVRP default_rag valid=1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不作为主证据，只作为 failure mode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BP 无增益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0.03984 未突破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 inconclusive，不写负面定论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重复次数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CVRP repeat=3，TSP 还不稳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只能写 repeat-level signal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人工选卡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V2/V3 已开始自动化，但仍需门禁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记录每次 selected cards 和选择理由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local reports, 2026-06-09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11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下一步不是扩大矩阵，而是把自动化实验记录制度固定下来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94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每次 run 必须能回答：为什么选这些卡、模型看到了什么、生成了什么最优代码、结果是否可信。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143000"/>
            <a:ext cx="64008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7101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1. 补 CVRP 证据链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0392" y="1572768"/>
            <a:ext cx="318211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把 repeat=3 的 card decisions、trace、best code、valid/candidate 分布写入统一报告。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4434840" y="11430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1143000"/>
            <a:ext cx="64008" cy="1874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27101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2. 诊断 TSP outlier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1572768"/>
            <a:ext cx="318211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读取 9.656 run 的 raw candidates 与 best code，判断是选卡问题、代码退化还是随机方差。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8183880" y="114300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1143000"/>
            <a:ext cx="64008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27101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3. 固化 TOCC run schema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48472" y="1572768"/>
            <a:ext cx="318211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强制记录 selected_card_ids、selection reason、rag_trace、best score、best code、valid rate。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2560320" y="36576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0" y="3657600"/>
            <a:ext cx="64008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378561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4. 准备导师版本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24912" y="4087368"/>
            <a:ext cx="318211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主线：框架搭通 + CVRP 稳定正向 + TSP 待稳定。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309360" y="36576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657600"/>
            <a:ext cx="64008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78561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5. 论文方向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73952" y="4087368"/>
            <a:ext cx="318211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把 operator-card injection 定义为 search steering，而非普通 RAG。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local reports, 2026-06-09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12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导师汇报压缩话术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7EB"/>
                </a:solidFill>
              </a:rPr>
              <a:t>主线：TOCC 把 RAG 从“加上下文”变成“根据 trace 选择 operator-card prior 来控制搜索方向”。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515600" cy="292608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  <a:gridCol w="36576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可以说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不能说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下一步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框架闭环已搭通；CVRP repeat 当前最稳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TOCC 已被统计证明；RAG 必然有效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 CVRP 证据链和 best code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TSP 有 best-score 潜力但方差大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TSP 稳定优于 pure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 9.656 outlier trace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贡献点是 search steering controller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只是普通 ReAct agent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固化每次选卡与代码记录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6868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可汇报结论：框架已搭通；CVRP 是当前正面证据；TSP 还需稳定；论文贡献点写成 search steering。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6172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agent_go / TOCC | 2026-06-09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公开代码文献调研：只保留能读源码或至少有官方仓库的工作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94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本轮不再讨论只有论文没有代码的工作；CoupleEvo 仓库当前 404，CoEvo-AHD 暂未找到公开代码。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960120"/>
          <a:ext cx="11018520" cy="4389120"/>
        </p:xfrm>
        <a:graphic>
          <a:graphicData uri="http://schemas.openxmlformats.org/drawingml/2006/table">
            <a:tbl>
              <a:tblPr/>
              <a:tblGrid>
                <a:gridCol w="1143000"/>
                <a:gridCol w="2514600"/>
                <a:gridCol w="2011680"/>
                <a:gridCol w="5349240"/>
              </a:tblGrid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Status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Read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CO-Bench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sunnweiwei/CO-Bench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clone OK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API + evaluator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HeuriGym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cornell-zhang/heurigym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clone OK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executor + verifier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HeurAgenix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microsoft/HeurAgenix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clone OK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selector + tool schema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EoH-S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FeiLiu36/EoH-S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public; clone early EOF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README only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ReEvo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ai4co/reevo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public; clone early EOF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README only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CoupleEvo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 404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excluded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 source claim</a:t>
                      </a:r>
                      <a:endParaRPr lang="en-US" sz="8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553212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5532120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56601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报告路径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96112" y="5961888"/>
            <a:ext cx="318211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paper_notes/llm_co_public_code_source_reading_20260609.md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4434840" y="553212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5532120"/>
            <a:ext cx="64008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9432" y="56601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原则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99432" y="5961888"/>
            <a:ext cx="318211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没有代码不写源码结论；clone 失败只写公开结构。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8138160" y="553212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38160" y="5532120"/>
            <a:ext cx="64008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02752" y="56601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下一步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302752" y="5961888"/>
            <a:ext cx="318211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EoH-S/ReEvo 用 sparse checkout 或 zip 单独拉。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local source reading report + public GitHub repos, 2026-06-09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13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源码读到的三种 agent/harness 形态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94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三类实现对应 TOCC 的 loop、metric、tool-use。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51560"/>
          <a:ext cx="11018520" cy="2057400"/>
        </p:xfrm>
        <a:graphic>
          <a:graphicData uri="http://schemas.openxmlformats.org/drawingml/2006/table">
            <a:tbl>
              <a:tblPr/>
              <a:tblGrid>
                <a:gridCol w="1234440"/>
                <a:gridCol w="2560320"/>
                <a:gridCol w="3063240"/>
                <a:gridCol w="4160520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Codebase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Core abstraction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Files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TOCC borrow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CO-Bench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step / feedback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agents/*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loop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HeuriGym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verify + evaluate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scripts/*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yield metric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HeurAgenix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state selector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pipeline/*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tool schema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65760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3657600"/>
            <a:ext cx="64008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3785616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CO-Bench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96112" y="4087368"/>
            <a:ext cx="29535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标准 agent loop。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4251960" y="365760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3657600"/>
            <a:ext cx="64008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16552" y="3785616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HeuriGym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416552" y="4087368"/>
            <a:ext cx="29535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valid + quality 双指标。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7772400" y="365760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0" y="3657600"/>
            <a:ext cx="64008" cy="1508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36992" y="3785616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HeurAgenix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936992" y="4087368"/>
            <a:ext cx="29535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11827"/>
                </a:solidFill>
              </a:rPr>
              <a:t>AST -&gt; tool schema。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cloned repositories under eoh_go_workspace/external_repos/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14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HeurAgenix 原图：它是 solving-state-level heuristic selector，不是 run-level card controller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94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这些原图来自公开仓库 doc/；它们说明相邻工作的 tool-use 是求解过程内选 heuristic。</a:t>
            </a:r>
            <a:endParaRPr lang="en-US" sz="1050" dirty="0"/>
          </a:p>
        </p:txBody>
      </p:sp>
      <p:pic>
        <p:nvPicPr>
          <p:cNvPr id="4" name="Image 0" descr="/Users/guojiadong.9/agent_ad/agent_go/eoh_go_workspace/external_repos/HeurAgenix/doc/frame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60120"/>
            <a:ext cx="5349240" cy="4160520"/>
          </a:xfrm>
          <a:prstGeom prst="rect">
            <a:avLst/>
          </a:prstGeom>
        </p:spPr>
      </p:pic>
      <p:pic>
        <p:nvPicPr>
          <p:cNvPr id="5" name="Image 1" descr="/Users/guojiadong.9/agent_ad/agent_go/eoh_go_workspace/external_repos/HeurAgenix/doc/problem_solv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960120"/>
            <a:ext cx="5349240" cy="1965960"/>
          </a:xfrm>
          <a:prstGeom prst="rect">
            <a:avLst/>
          </a:prstGeom>
        </p:spPr>
      </p:pic>
      <p:pic>
        <p:nvPicPr>
          <p:cNvPr id="6" name="Image 2" descr="/Users/guojiadong.9/agent_ad/agent_go/eoh_go_workspace/external_repos/HeurAgenix/doc/heuristic_evolution_multipl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63640" y="3154680"/>
            <a:ext cx="5349240" cy="19659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TOCC 边界：HeurAgenix 选择“当前求解状态用哪个 heuristic”；TOCC 选择“下一轮 EOH 注入哪些 operator cards”。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microsoft/HeurAgenix public repository doc images</a:t>
            </a:r>
            <a:endParaRPr lang="en-US" sz="820" dirty="0"/>
          </a:p>
        </p:txBody>
      </p:sp>
      <p:sp>
        <p:nvSpPr>
          <p:cNvPr id="9" name="Text 4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15</a:t>
            </a:r>
            <a:endParaRPr lang="en-US" sz="8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</a:rPr>
              <a:t>TOCC 应实现为 tool-using research controller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94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把可执行动作拆成工具，并用 gatekeeper 限制。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914400"/>
          <a:ext cx="11018520" cy="3063240"/>
        </p:xfrm>
        <a:graphic>
          <a:graphicData uri="http://schemas.openxmlformats.org/drawingml/2006/table">
            <a:tbl>
              <a:tblPr/>
              <a:tblGrid>
                <a:gridCol w="1600200"/>
                <a:gridCol w="1828800"/>
                <a:gridCol w="7589520"/>
              </a:tblGrid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TOCC Tool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Borrowed from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Implementation direction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TraceReader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CO-Bench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read trace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CardSelector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HeurAgenix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cards + query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Gatekeeper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HeuriGym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block unsafe fields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ManifestRunner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CO-Bench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bounded run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Summarizer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HeuriGym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118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quality + funnel</a:t>
                      </a:r>
                      <a:endParaRPr lang="en-US" sz="8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" y="443484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1832" y="4572000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LLM proposer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41832" y="4864608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diagnosis, cards, query,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rationale, expected_effect, confidence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6309360" y="443484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3952" y="4572000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Gatekeeper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73952" y="4864608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budget, shell, key,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path, git operation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320040" y="65379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source: source reading report + TOCC goal document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1156716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B7280"/>
                </a:solidFill>
              </a:rPr>
              <a:t>16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7474F"/>
                </a:solidFill>
              </a:defRPr>
            </a:pPr>
            <a:r>
              <a:t>文献调研完成：五篇必读论文回答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332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657600"/>
                <a:gridCol w="1828800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核心贡献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TOCC 对齐点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关键数字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CO-Bench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(ICLR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首个 CO 算法搜索基准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36 问题 / 9 框架 / 15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FunSearch 超经典求解器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验证进化+LLM 组合有效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FunSearch 0.842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vs 经典 0.797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HeuriGym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(ICLR 2026)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三阶段验证 + QYI 指标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Quality×Yield 综合评估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QYI 指标值得借鉴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三阶段验证与 gatekeeper 对齐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最佳 QYI=0.62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专家=1.00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HeurAgenix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(Microsoft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两阶段：进化+动态选择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GRPO 微调轻量选择器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选择对象不同：代码 vs 卡片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选择条件不同：状态 vs trace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优于 FunSearch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匹配 LKH3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CoEvo-AHD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(2026)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双种群协同进化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工具增强环境库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给算子工具 vs 给 LLM 知识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正交可组合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工具去除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性能-5.5%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A2DEPT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进化程序树 + 分层算子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模板 AHD→开放式 AAD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自适应调度思想可借鉴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cards 是轻量模板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优化间隙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降低 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5303520"/>
            <a:ext cx="64000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0" y="5303520"/>
            <a:ext cx="11183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全部五篇论文的详细阅读笔记已写入 eoh_go_workspace/reports/paper_notes/</a:t>
            </a:r>
            <a:br/>
            <a:r>
              <a:t>Goal 文档 §4.1/§4.2 已填写完整回答。CoEvo-AHD 边界已确认（primary-source reading 完成）。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7474F"/>
                </a:solidFill>
              </a:defRPr>
            </a:pPr>
            <a:r>
              <a:t>TOCC 与相关工作的关系图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87878"/>
                </a:solidFill>
              </a:defRPr>
            </a:pPr>
            <a:r>
              <a:t>基础层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0"/>
            <a:ext cx="64000" cy="82296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0" y="5029200"/>
            <a:ext cx="2496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74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74F"/>
                </a:solidFill>
              </a:defRPr>
            </a:pPr>
            <a:r>
              <a:t>EoH (ICML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进化启发式 / 思维-代码对 / i1,m1,m2,e1,e2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5029200"/>
            <a:ext cx="64000" cy="82296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55840" y="5029200"/>
            <a:ext cx="2496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5074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74F"/>
                </a:solidFill>
              </a:defRPr>
            </a:pPr>
            <a:r>
              <a:t>FunSearch (Nature 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349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岛屿式演化 / Best-Shot 提示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5029200"/>
            <a:ext cx="64000" cy="82296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0" y="5029200"/>
            <a:ext cx="2496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074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74F"/>
                </a:solidFill>
              </a:defRPr>
            </a:pPr>
            <a:r>
              <a:t>ReEvo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349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反思式演化 / 文本梯度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87878"/>
                </a:solidFill>
              </a:defRPr>
            </a:pPr>
            <a:r>
              <a:t>增强层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64000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0" y="3017520"/>
            <a:ext cx="3136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74F"/>
                </a:solidFill>
              </a:defRPr>
            </a:pPr>
            <a:r>
              <a:t>HeurAgenix (Microsoft 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37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进化+动态选择 / GRPO 微调 / 问题状态→代码选择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017520"/>
            <a:ext cx="64000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95920" y="3017520"/>
            <a:ext cx="3136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74F"/>
                </a:solidFill>
              </a:defRPr>
            </a:pPr>
            <a:r>
              <a:t>A2DEPT (2026)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337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进化程序树 / 分层算子 / 自适应调度 / 开放式 AAD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017520"/>
            <a:ext cx="64000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70640" y="3017520"/>
            <a:ext cx="3136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474F"/>
                </a:solidFill>
              </a:defRPr>
            </a:pPr>
            <a:r>
              <a:t>CoEvo-AHD (2026)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337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双种群协同 / 工具增强环境 / 算子实现原语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87878"/>
                </a:solidFill>
              </a:defRPr>
            </a:pPr>
            <a:r>
              <a:t>TOCC 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914400"/>
            <a:ext cx="64000" cy="1371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64400" y="914400"/>
            <a:ext cx="5696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960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474F"/>
                </a:solidFill>
              </a:defRPr>
            </a:pPr>
            <a:r>
              <a:t>TOCC — Trace-Conditioned Operator-Card Controller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132588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• 给 LLM 提供策略知识（不改变算子实现，改变生成分布）</a:t>
            </a:r>
            <a:br/>
            <a:r>
              <a:t>• 选择对象：预定义策略卡（&lt;=450 chars）</a:t>
            </a:r>
            <a:br/>
            <a:r>
              <a:t>• 选择条件：执行轨迹（trace）→ RAG 检索匹配</a:t>
            </a:r>
            <a:br/>
            <a:r>
              <a:t>• 与 CoEvo-AHD 正交可组合：cards + tools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737360" y="4754880"/>
            <a:ext cx="2286000" cy="228600"/>
          </a:xfrm>
          <a:prstGeom prst="rightArrow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4114800" y="4754880"/>
            <a:ext cx="1645920" cy="228600"/>
          </a:xfrm>
          <a:prstGeom prst="rightArrow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5722"/>
                </a:solidFill>
              </a:defRPr>
            </a:pPr>
            <a:r>
              <a:t>↕ 选择对象不同</a:t>
            </a:r>
            <a:br/>
            <a:r>
              <a:t>   代码 vs 卡片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5722"/>
                </a:solidFill>
              </a:defRPr>
            </a:pPr>
            <a:r>
              <a:t>↕ 自适应调度</a:t>
            </a:r>
            <a:br/>
            <a:r>
              <a:t>   思想可借鉴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CAF50"/>
                </a:solidFill>
              </a:defRPr>
            </a:pPr>
            <a:r>
              <a:t>↕ 正交可组合</a:t>
            </a:r>
            <a:br/>
            <a:r>
              <a:t>   cards +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t>蓝色=TOCC / 橙色=增强层（可借鉴）/ 灰色=基础层（已对比）/ 箭头=影响方向 / ↕=对比关系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7474F"/>
                </a:solidFill>
              </a:defRPr>
            </a:pPr>
            <a:r>
              <a:t>TOCC 贡献定位：与相关工作的差异化边界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64000" cy="502920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0" y="1005840"/>
            <a:ext cx="52395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474F"/>
                </a:solidFill>
              </a:defRPr>
            </a:pPr>
            <a:r>
              <a:t>相关工作做什么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474F"/>
                </a:solidFill>
              </a:defRPr>
            </a:pPr>
            <a:r>
              <a:t>CoEvo-AHD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给算子提供计算工具（环境库原语）</a:t>
            </a:r>
            <a:br/>
            <a:r>
              <a:t>改变「算子如何实现」</a:t>
            </a:r>
            <a:br/>
            <a:r>
              <a:t>评估：算子实现对解质量的影响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474F"/>
                </a:solidFill>
              </a:defRPr>
            </a:pPr>
            <a:r>
              <a:t>A2DEPT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开放式程序搜索 + 分层算子</a:t>
            </a:r>
            <a:br/>
            <a:r>
              <a:t>改变「搜索空间有多大」</a:t>
            </a:r>
            <a:br/>
            <a:r>
              <a:t>评估：完整求解器的优化间隙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474F"/>
                </a:solidFill>
              </a:defRPr>
            </a:pPr>
            <a:r>
              <a:t>HeurAgenix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进化可执行代码 + 动态选择</a:t>
            </a:r>
            <a:br/>
            <a:r>
              <a:t>改变「启发式从哪来」</a:t>
            </a:r>
            <a:br/>
            <a:r>
              <a:t>评估：选择器准确率 + 解质量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474F"/>
                </a:solidFill>
              </a:defRPr>
            </a:pPr>
            <a:r>
              <a:t>EoH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进化框架内的启发式组件</a:t>
            </a:r>
            <a:br/>
            <a:r>
              <a:t>改变「组件参数是什么」</a:t>
            </a:r>
            <a:br/>
            <a:r>
              <a:t>评估：最优组件的适应度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64000" cy="5029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1920" y="1005840"/>
            <a:ext cx="52395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51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474F"/>
                </a:solidFill>
              </a:defRPr>
            </a:pPr>
            <a:r>
              <a:t>TOCC 做什么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给 LLM 提供策略知识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830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0E0E0"/>
                </a:solidFill>
              </a:defRPr>
            </a:pPr>
            <a:r>
              <a:t>不改变算子实现，改变 LLM 生成分布</a:t>
            </a:r>
            <a:br/>
            <a:r>
              <a:t>通过 RAG 注入策略卡到 task_description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14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基于执行轨迹选择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0E0E0"/>
                </a:solidFill>
              </a:defRPr>
            </a:pPr>
            <a:r>
              <a:t>trace → card selection → gate → EOH</a:t>
            </a:r>
            <a:br/>
            <a:r>
              <a:t>闭环反馈：效果差的 trace → 换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747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实验控制原语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033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0E0E0"/>
                </a:solidFill>
              </a:defRPr>
            </a:pPr>
            <a:r>
              <a:t>manifest runner / gatekeeper / summarizer</a:t>
            </a:r>
            <a:br/>
            <a:r>
              <a:t>标准化实验流程，可审计可复现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与 CoEvo-AHD 正交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6344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0E0E0"/>
                </a:solidFill>
              </a:defRPr>
            </a:pPr>
            <a:r>
              <a:t>TOCC cards + CoEvo-AHD tools = 组合</a:t>
            </a:r>
            <a:br/>
            <a:r>
              <a:t>LLM 同时获得策略知识和计算工具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474F"/>
                </a:solidFill>
              </a:defRPr>
            </a:pPr>
            <a:r>
              <a:t>一句话：CoEvo-AHD 改变算子实现，A2DEPT 改变搜索空间，HeurAgenix 改变启发式来源，TOCC 改变 LLM 生成分布。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7474F"/>
                </a:solidFill>
              </a:defRPr>
            </a:pPr>
            <a:r>
              <a:t>实验修正：发现 i1-only 问题 + 真正进化实验计划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64000" cy="18288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0" y="914400"/>
            <a:ext cx="11183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474F"/>
                </a:solidFill>
              </a:defRPr>
            </a:pPr>
            <a:r>
              <a:t>发现：所有历史实验都是 i1-only（独立发明），没有真正的进化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• 8 个 manifest 全部显式设置 operators="i1"，runner 每层默认也是 "i1"</a:t>
            </a:r>
            <a:br/>
            <a:r>
              <a:t>• EoH 库默认 ['e1','e2','m1','m2'] 从未被触达</a:t>
            </a:r>
            <a:br/>
            <a:r>
              <a:t>• i1 = 独立发明（无 parent code），每一代都是独立采样</a:t>
            </a:r>
            <a:br/>
            <a:r>
              <a:t>• 所谓 "evolution" 本质上是 repeated independent sampling + best-of-N selection</a:t>
            </a:r>
            <a:br/>
            <a:r>
              <a:t>• 结论：之前的 "进化率" "进化改善" 等说法不成立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64000" cy="1645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0" y="2926080"/>
            <a:ext cx="111831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474F"/>
                </a:solidFill>
              </a:defRPr>
            </a:pPr>
            <a:r>
              <a:t>修正：Goal §5.4 新增算子规则 + 新 manifest 已创建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• Goal §5.4 强制规则：所有声称 "进化" 的实验必须含 crossover + mutation 算子</a:t>
            </a:r>
            <a:br/>
            <a:r>
              <a:t>• 推荐默认：--operators "e1,e2,m1,m2"</a:t>
            </a:r>
            <a:br/>
            <a:r>
              <a:t>• 新 manifest：tocc_day2_tsp_real_evolution_gen4.json（operators: e1,e2,m1,m2）</a:t>
            </a:r>
            <a:br/>
            <a:r>
              <a:t>• pure_eoh vs tocc_corrected，gen=4，pop=4，repeats=3，预算相同（24 samples/run）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754880"/>
            <a:ext cx="64000" cy="16459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0" y="4754880"/>
            <a:ext cx="111831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474F"/>
                </a:solidFill>
              </a:defRPr>
            </a:pPr>
            <a:r>
              <a:t>但：CVRP 的 TOCC 优势不受影响（两组都是 i1-only，对比公平）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• CVRP（tocc_day1_cvrp_repeat5，n=5）：TOCC 5/5 全赢，mean 12.98 vs 13.51</a:t>
            </a:r>
            <a:br/>
            <a:r>
              <a:t>• TSP stabilization（n=3）：TOCC 方差极大（9.66 outlier），不一致</a:t>
            </a:r>
            <a:br/>
            <a:r>
              <a:t>• i1-only 实验可以证明「cards 改善生成分布」，但不能证明「cards 帮助进化」</a:t>
            </a:r>
            <a:br/>
            <a:r>
              <a:t>• 真正的进化实验需要 e1,e2,m1,m2 才能验证 card 对 crossover/mutation 的影响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agent_go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agent_go / TOCC阶段成果总结</dc:title>
  <dc:subject>TOCC阶段成果总结</dc:subject>
  <dc:creator>agent_go</dc:creator>
  <cp:lastModifiedBy>agent_go</cp:lastModifiedBy>
  <cp:revision>1</cp:revision>
  <dcterms:created xsi:type="dcterms:W3CDTF">2026-06-09T06:34:35Z</dcterms:created>
  <dcterms:modified xsi:type="dcterms:W3CDTF">2026-06-09T06:34:35Z</dcterms:modified>
</cp:coreProperties>
</file>