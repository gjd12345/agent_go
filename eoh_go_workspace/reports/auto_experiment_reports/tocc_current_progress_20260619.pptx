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62fa3064cf4670" /><Relationship Type="http://schemas.openxmlformats.org/officeDocument/2006/relationships/extended-properties" Target="/docProps/app.xml" Id="Ra73287ac9d3047a9" /><Relationship Type="http://schemas.openxmlformats.org/officeDocument/2006/relationships/officeDocument" Target="/ppt/presentation.xml" Id="R0b0fbba21f9141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ca8b3a440964381"/>
  </p:sldMasterIdLst>
  <p:notesMasterIdLst>
    <p:notesMasterId xmlns:r="http://schemas.openxmlformats.org/officeDocument/2006/relationships" r:id="R7cde6ab4727b423f"/>
  </p:notesMasterIdLst>
  <p:sldIdLst>
    <p:sldId xmlns:r="http://schemas.openxmlformats.org/officeDocument/2006/relationships" id="256" r:id="Rc17fbe4a5fb14c3e"/>
    <p:sldId xmlns:r="http://schemas.openxmlformats.org/officeDocument/2006/relationships" id="257" r:id="R0ee4b07456324b51"/>
    <p:sldId xmlns:r="http://schemas.openxmlformats.org/officeDocument/2006/relationships" id="258" r:id="R7f0c46bb81b94e44"/>
    <p:sldId xmlns:r="http://schemas.openxmlformats.org/officeDocument/2006/relationships" id="259" r:id="R01ea459badd44272"/>
    <p:sldId xmlns:r="http://schemas.openxmlformats.org/officeDocument/2006/relationships" id="260" r:id="R6bf6e34895474bea"/>
    <p:sldId xmlns:r="http://schemas.openxmlformats.org/officeDocument/2006/relationships" id="261" r:id="R980a19a2d7514169"/>
    <p:sldId xmlns:r="http://schemas.openxmlformats.org/officeDocument/2006/relationships" id="262" r:id="Rc9f7d7bc872844f4"/>
    <p:sldId xmlns:r="http://schemas.openxmlformats.org/officeDocument/2006/relationships" id="263" r:id="R4159988725c6465b"/>
    <p:sldId xmlns:r="http://schemas.openxmlformats.org/officeDocument/2006/relationships" id="264" r:id="R705f2c08cd9646a9"/>
    <p:sldId xmlns:r="http://schemas.openxmlformats.org/officeDocument/2006/relationships" id="265" r:id="Rf9d9d43f11214579"/>
    <p:sldId xmlns:r="http://schemas.openxmlformats.org/officeDocument/2006/relationships" id="266" r:id="R0a4a8bb395a24043"/>
    <p:sldId xmlns:r="http://schemas.openxmlformats.org/officeDocument/2006/relationships" id="267" r:id="R08c0ecebaded49b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eea61fce5948ba" /><Relationship Type="http://schemas.openxmlformats.org/officeDocument/2006/relationships/slideMaster" Target="/ppt/slideMasters/slideMaster1.xml" Id="Rfca8b3a440964381" /><Relationship Type="http://schemas.openxmlformats.org/officeDocument/2006/relationships/notesMaster" Target="/ppt/notesMasters/notesMaster1.xml" Id="R7cde6ab4727b423f" /><Relationship Type="http://schemas.openxmlformats.org/officeDocument/2006/relationships/presProps" Target="/ppt/presProps.xml" Id="Rd3f9800596394209" /><Relationship Type="http://schemas.openxmlformats.org/officeDocument/2006/relationships/tableStyles" Target="/ppt/tableStyles.xml" Id="Re5501e69298c43d8" /><Relationship Type="http://schemas.openxmlformats.org/officeDocument/2006/relationships/slide" Target="/ppt/slides/slide1.xml" Id="Rc17fbe4a5fb14c3e" /><Relationship Type="http://schemas.openxmlformats.org/officeDocument/2006/relationships/slide" Target="/ppt/slides/slide2.xml" Id="R0ee4b07456324b51" /><Relationship Type="http://schemas.openxmlformats.org/officeDocument/2006/relationships/slide" Target="/ppt/slides/slide3.xml" Id="R7f0c46bb81b94e44" /><Relationship Type="http://schemas.openxmlformats.org/officeDocument/2006/relationships/slide" Target="/ppt/slides/slide4.xml" Id="R01ea459badd44272" /><Relationship Type="http://schemas.openxmlformats.org/officeDocument/2006/relationships/slide" Target="/ppt/slides/slide5.xml" Id="R6bf6e34895474bea" /><Relationship Type="http://schemas.openxmlformats.org/officeDocument/2006/relationships/slide" Target="/ppt/slides/slide6.xml" Id="R980a19a2d7514169" /><Relationship Type="http://schemas.openxmlformats.org/officeDocument/2006/relationships/slide" Target="/ppt/slides/slide7.xml" Id="Rc9f7d7bc872844f4" /><Relationship Type="http://schemas.openxmlformats.org/officeDocument/2006/relationships/slide" Target="/ppt/slides/slide8.xml" Id="R4159988725c6465b" /><Relationship Type="http://schemas.openxmlformats.org/officeDocument/2006/relationships/slide" Target="/ppt/slides/slide9.xml" Id="R705f2c08cd9646a9" /><Relationship Type="http://schemas.openxmlformats.org/officeDocument/2006/relationships/slide" Target="/ppt/slides/slide10.xml" Id="Rf9d9d43f11214579" /><Relationship Type="http://schemas.openxmlformats.org/officeDocument/2006/relationships/slide" Target="/ppt/slides/slide11.xml" Id="R0a4a8bb395a24043" /><Relationship Type="http://schemas.openxmlformats.org/officeDocument/2006/relationships/slide" Target="/ppt/slides/slide12.xml" Id="R08c0ecebaded49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32f76c38cb46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0d21e23aa84262" /><Relationship Type="http://schemas.openxmlformats.org/officeDocument/2006/relationships/notesMaster" Target="/ppt/notesMasters/notesMaster1.xml" Id="Rae4d51da3dcc4e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0a21480c424b46" /><Relationship Type="http://schemas.openxmlformats.org/officeDocument/2006/relationships/notesMaster" Target="/ppt/notesMasters/notesMaster1.xml" Id="Rde807189cc3a42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5f29f32de94ea0" /><Relationship Type="http://schemas.openxmlformats.org/officeDocument/2006/relationships/notesMaster" Target="/ppt/notesMasters/notesMaster1.xml" Id="R5b90c68d079b47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7a32afdb58419f" /><Relationship Type="http://schemas.openxmlformats.org/officeDocument/2006/relationships/notesMaster" Target="/ppt/notesMasters/notesMaster1.xml" Id="R6568d43d5df943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df5411ee2214849" /><Relationship Type="http://schemas.openxmlformats.org/officeDocument/2006/relationships/notesMaster" Target="/ppt/notesMasters/notesMaster1.xml" Id="R0798bc4d277c48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f8f2f954e745a2" /><Relationship Type="http://schemas.openxmlformats.org/officeDocument/2006/relationships/notesMaster" Target="/ppt/notesMasters/notesMaster1.xml" Id="R7f03487908584e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1d62041b5c45af" /><Relationship Type="http://schemas.openxmlformats.org/officeDocument/2006/relationships/notesMaster" Target="/ppt/notesMasters/notesMaster1.xml" Id="Ra241c554d00147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c4199b81f142df" /><Relationship Type="http://schemas.openxmlformats.org/officeDocument/2006/relationships/notesMaster" Target="/ppt/notesMasters/notesMaster1.xml" Id="Rbeb3fe4fb2e54d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3d7e8e063843fe" /><Relationship Type="http://schemas.openxmlformats.org/officeDocument/2006/relationships/notesMaster" Target="/ppt/notesMasters/notesMaster1.xml" Id="R0f6a8ded2baa42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1eaf6ee6aa4be1" /><Relationship Type="http://schemas.openxmlformats.org/officeDocument/2006/relationships/notesMaster" Target="/ppt/notesMasters/notesMaster1.xml" Id="Rcd12586177d34b8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1ca412efd049ee" /><Relationship Type="http://schemas.openxmlformats.org/officeDocument/2006/relationships/notesMaster" Target="/ppt/notesMasters/notesMaster1.xml" Id="Rc1a1d16e8d2b4d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9a725a53ea14023" /><Relationship Type="http://schemas.openxmlformats.org/officeDocument/2006/relationships/notesMaster" Target="/ppt/notesMasters/notesMaster1.xml" Id="R9dbe4169bdc748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f5810f0f744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53889fbf5b4813" /><Relationship Type="http://schemas.openxmlformats.org/officeDocument/2006/relationships/slideLayout" Target="/ppt/slideLayouts/slideLayout1.xml" Id="Rf7d5c35b682c47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d5c35b682c47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c6ee2e08e4820" /><Relationship Type="http://schemas.openxmlformats.org/officeDocument/2006/relationships/notesSlide" Target="/ppt/notesSlides/notesSlide1.xml" Id="Rc033aa5f4e0b49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c8abb18784d5a" /><Relationship Type="http://schemas.openxmlformats.org/officeDocument/2006/relationships/notesSlide" Target="/ppt/notesSlides/notesSlide2.xml" Id="R21b1a9f8144c47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c96162d6ec49f8" /><Relationship Type="http://schemas.openxmlformats.org/officeDocument/2006/relationships/image" Target="/ppt/media/image.png" Id="R668f492d4dd340c0" /><Relationship Type="http://schemas.openxmlformats.org/officeDocument/2006/relationships/notesSlide" Target="/ppt/notesSlides/notesSlide3.xml" Id="Rd15c95fe82664c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7e137c0874a55" /><Relationship Type="http://schemas.openxmlformats.org/officeDocument/2006/relationships/notesSlide" Target="/ppt/notesSlides/notesSlide4.xml" Id="R45234794b1db44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8b91ec0fe423b" /><Relationship Type="http://schemas.openxmlformats.org/officeDocument/2006/relationships/notesSlide" Target="/ppt/notesSlides/notesSlide5.xml" Id="Rda9a7679213b48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f0ba48db24b73" /><Relationship Type="http://schemas.openxmlformats.org/officeDocument/2006/relationships/notesSlide" Target="/ppt/notesSlides/notesSlide6.xml" Id="R7ff6c71fc57f41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4d648d9774379" /><Relationship Type="http://schemas.openxmlformats.org/officeDocument/2006/relationships/notesSlide" Target="/ppt/notesSlides/notesSlide7.xml" Id="Rbf73874bd61f4e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b4fa616fc64cf1" /><Relationship Type="http://schemas.openxmlformats.org/officeDocument/2006/relationships/notesSlide" Target="/ppt/notesSlides/notesSlide8.xml" Id="Rd27b54cefc3849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42ddc7ae78471c" /><Relationship Type="http://schemas.openxmlformats.org/officeDocument/2006/relationships/notesSlide" Target="/ppt/notesSlides/notesSlide9.xml" Id="Rf93432b3433d408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30025d86b04a7d" /><Relationship Type="http://schemas.openxmlformats.org/officeDocument/2006/relationships/notesSlide" Target="/ppt/notesSlides/notesSlide10.xml" Id="Rea0fbeb1e5d7404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a71ad9520468a" /><Relationship Type="http://schemas.openxmlformats.org/officeDocument/2006/relationships/notesSlide" Target="/ppt/notesSlides/notesSlide11.xml" Id="R3d0a032f617042d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8228904224c79" /><Relationship Type="http://schemas.openxmlformats.org/officeDocument/2006/relationships/notesSlide" Target="/ppt/notesSlides/notesSlide12.xml" Id="R0a25c1d466d04a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991571-B555-41C1-8947-51915EDF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TRACE-CONDITIONED OPERATOR-CARD CONTROLLER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CD7AF-8BEA-4DDA-B83E-CC8F48F3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TOCC 自动化实验闭环当前进展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3E254-598A-430A-ACEE-24323A07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从手工选 RAG 卡片，推进到 trace 诊断、选卡门禁、manifest 执行、自动汇总与 history-card 记忆的闭环。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611961-E37C-45AF-8F28-9C04E2A2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9900"/>
            <a:ext cx="3143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0F8B5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F945D-7B3F-4E4A-800D-E990FEF4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813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rPr>
              <a:t>CVRP repeat-level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DCE9E-9939-4C10-A074-DB1000C5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6710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-4.2%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6FD0BF-82F1-4D68-8AEC-C655DE9A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tocc_corrected 8/8 优于 pure mean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F8D82F-61A3-4609-BCC6-EDED040C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09900"/>
            <a:ext cx="3143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2DE"/>
          </a:solidFill>
          <a:ln xmlns:a="http://schemas.openxmlformats.org/drawingml/2006/main" w="9525">
            <a:solidFill>
              <a:srgbClr val="C76B0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280BC0-D8DD-4D4B-B9F1-DA29A402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813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rPr>
              <a:t>TSP gen=4 exploratory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3AD520-2EB8-4AD8-8B7B-7347D458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46710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-1.4%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B20611-0C87-4DB9-93DD-625595CE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386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方向正确，但仍需更多问题验证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8CED4B-921F-46E5-8352-7DF60284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09900"/>
            <a:ext cx="3143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6741D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37FDE-347D-462A-9C5D-B95EBCB4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813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rPr>
              <a:t>History-card memory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7ABEBD-4247-452F-9A87-10866BFB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6710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已打通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551794-5E1C-4526-9C1F-4F17B869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38600"/>
            <a:ext cx="276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可控接入；收益尚未证明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C536C9-F873-4607-B52F-7CB8B1A3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F5FB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日期 2026-06-19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2AB257-94EA-4C3A-9A46-58F91693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ED10CA-2F0E-4B68-A51F-981626A8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397946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169072-C837-4FE3-86AA-2D0DA521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WHY TOCC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07EAB-5299-4C47-A9DB-2A33DBCC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问题不是“有没有 RAG”，而是“RAG 往哪引导搜索”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F2072-0528-4AAE-A851-4DD5FB7B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EOH 会生成代码，但缺少系统性的搜索方向控制；TOCC 把选卡变成 trace-conditioned action。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883DB-2F14-4B90-A64B-DE3A5881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2571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F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EAA82-3B9F-403A-B4EE-43E4EA83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2305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EOH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AAD7D5-EB15-4A1D-A83D-72CA646C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population / mutation / LLM code generation / evaluator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1B013E-7E1C-4A08-B182-C8E08EE1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66900"/>
            <a:ext cx="2571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6B0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60066-AED6-45FD-8E6B-A0612996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00250"/>
            <a:ext cx="2305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rPr>
              <a:t>RAG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274E3C-DB6E-4E0D-B5D8-A8472BC9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669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operator cards -&gt; prompt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1ADF4-6A73-4D7E-9536-8EF5AA88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66900"/>
            <a:ext cx="28575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8B5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9D087-AAC3-4632-8E6B-F7192B2D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002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rPr>
              <a:t>TOCC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C7CD53-E2D8-4876-A1C9-38B5606C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6695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run trace -&gt; diagnosis -&gt; selected_card_ids -&gt; bounded run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071BAB-79AF-4410-9197-2F11ED49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145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B647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75307-6639-4288-B6AB-A22E1DF0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145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B647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BC8BF-AE8B-400E-B545-44450086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95250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EA4453-41DE-4ED7-A329-FE619061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"/>
            <a:ext cx="476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0357E8-E264-47AE-989F-E9BB2049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14750"/>
            <a:ext cx="461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普通 RAG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3842AA-3BF2-4568-A502-01E9ADA2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19500"/>
            <a:ext cx="476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3248E4-0B99-48B3-995E-CACF7C43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714750"/>
            <a:ext cx="461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TOCC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573990-973E-4078-B9DB-5F389339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9B7716-D38A-4B6F-8C6C-0B0DE6F0E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query -&gt; top-k cards -&gt; prompt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229159-1FD4-4667-8FAE-60CE8628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005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B18688-1449-499E-BB2A-3BA216F8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0767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trace -&gt; diagnosis -&gt; selected cards -&gt; gate -&gt; run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31FB97-2C04-4242-892F-D982883B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0055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DFC16A-FF1A-4151-B4B9-8E1CAB89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7675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只能说明检索到了什么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6C0189-9245-47E5-85D7-F07796B1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0055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2E89A7-AE0E-496C-8F06-E7B6A7D0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47675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能解释为什么选卡、是否注入、是否坍缩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575A80-8411-4FD7-B0D6-11BB4B9C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006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091601-990C-4ACC-BC6F-9B1F62D9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768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失败时难归因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55155D-00BC-4F98-BD47-37AD5735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006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CDDD19-739E-44FA-81A5-58D63B10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8768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失败被拆到 linkage / generation / objective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EC404D-65F2-4B27-8C24-D9AAD6A9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BD7515-9A2C-43A0-B0FA-049AF895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799379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E1C897-E2C7-4FD5-A831-36408394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METHOD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BA442-80C5-4D0B-A5C2-1CF1F184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TOCC 原理：控制 LLM 生成启发式程序时看到的先验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B16E72-9BE7-4630-A8A9-57E0147D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控制对象不是采样点，而是 operator-card injection 这个生成 bias。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4132A-CCB7-40CE-A5FB-67773EE2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8191500" cy="466725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8f492d4dd340c0"/>
          <a:stretch xmlns:a="http://schemas.openxmlformats.org/drawingml/2006/main"/>
        </p:blipFill>
        <p:spPr>
          <a:xfrm xmlns:a="http://schemas.openxmlformats.org/drawingml/2006/main">
            <a:off x="851368" y="1676400"/>
            <a:ext cx="7707964" cy="4305300"/>
          </a:xfrm>
          <a:prstGeom xmlns:a="http://schemas.openxmlformats.org/drawingml/2006/main" prst="roundRect">
            <a:avLst>
              <a:gd name="adj" fmla="val 177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8B2F62-E97F-401B-9BBA-D0331B4F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76400"/>
            <a:ext cx="2381250" cy="36195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F5F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81DF30-CB5C-469D-A58D-426E8102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962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类比关系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8F4478-0D9F-4432-A701-DF1337FF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00300"/>
            <a:ext cx="195262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MCTS: selection policy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BO: acquisition function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TOCC: trace-conditioned card selection policy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目标: steer LLM-based heuristic evolution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9290AF-9340-40BD-91C9-E86262C9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007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图源: 本地 draw.io，PNG/SVG 均嵌入 XML，可回到 draw.io 编辑。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A7C0B1-26A9-45E8-95AD-A0A15CF4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E35DC6-D293-4F49-AF45-62675304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7306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1AA50F-345B-4E96-96F1-1A13B700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OPERATOR CARDS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1EE01E-D42A-42D2-A2C4-A9610A87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TOCC 的 action 是选卡，不是直接改代码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CF0B3-B5D5-42A0-8D7F-BAAEA00B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分类先行：策略、接口约束、历史记忆、失败警告分开路由，避免 context 被污染。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BD2FD-F8BA-482F-BCB6-8ACA7DCD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106680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BB173-9BC1-45B0-A5A2-52B0A244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190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450CC-CAAA-4009-B26D-E20607D3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类型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E9B511-B0BF-4B2B-809B-5153946A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676400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2BCD2-28EA-4687-BFB7-14893040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716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D79F2B-A8BD-4426-8DFE-C8529549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676400"/>
            <a:ext cx="2095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7DBE80-3C22-47BD-98E9-858CE2D4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7165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是否进 top-k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B4ADB-E92A-47E3-92CC-674DC425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7640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D3B5F5-F600-4733-914E-DDDCE216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71650"/>
            <a:ext cx="403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作用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F2D716-CD97-40B9-92A7-582DCAB7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F1739-942D-4F11-AC02-5A0062D3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api_constraint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345E31-ECE4-4BEF-99F6-E282AA93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574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D35B2B-CD75-4C4C-AF9A-26F6BD53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13360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手工接口规则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C370C3-2D83-48DF-B262-9BD08228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057400"/>
            <a:ext cx="209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327EA2-01AC-43C4-82AE-F5F04E31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133600"/>
            <a:ext cx="1943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否，固定前置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6F12FB-0E33-43C5-A8E5-1C3B21A4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57400"/>
            <a:ext cx="4191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F61C00-D3C7-4C99-AD9F-DE50F595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133600"/>
            <a:ext cx="403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函数签名、fallback、返回值、API 顺序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94647A-8AFB-408A-BB41-5C99D947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52700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58177C-4BA1-4946-A596-833C5A66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literature card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3E34B6-02E3-4754-8741-83A95A1C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5527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994E81-0930-47BF-867E-BDF9C254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2890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文献/经典启发式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FBD6AE-8524-4A9F-A820-46B8E211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552700"/>
            <a:ext cx="209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CCB4EF-43C8-4E36-BD37-D32457F1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628900"/>
            <a:ext cx="1943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CC8150-3BFA-4858-AF4D-BED3887F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52700"/>
            <a:ext cx="4191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0EB9C2-4122-4197-B387-9427C0C0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403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提供 regret、farthest、savings 等策略 prior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5C1F51-0250-4690-A178-18B4FE97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14DCA2-08F9-4A91-86AF-106CFDEE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history card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2A23B9-BAAF-4B0D-8E24-7C19297C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0480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9F1B2D-3C37-4A6C-B2D5-1AEC202A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12420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best_code 自动合成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0CD7BB-D28E-4F83-901C-A6929B20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048000"/>
            <a:ext cx="209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553D85-E563-4156-8A04-DD61A2D6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24200"/>
            <a:ext cx="1943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是，但受 gate 约束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83E2B9-323D-4177-8D24-0EFFB4E6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4191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DB00DA-BC87-4545-9EB2-CEA5C886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24200"/>
            <a:ext cx="403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复用已发现代码模式，必须小算子化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E4A257-BB78-4A15-B10F-66EFBC18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43300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C27D0AE-A85C-453F-B865-9AFC71E0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19500"/>
            <a:ext cx="1752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failure warning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8B3F7F-8C13-4741-84AF-A615F0B1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5433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674DAC-6CED-46E5-8948-8CE9B77F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1950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guard / 失败经验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EB7757-32B9-4302-A04B-FED5EFD4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543300"/>
            <a:ext cx="209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D64053-6AA5-4713-A934-81A0D94E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19500"/>
            <a:ext cx="1943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否或弱注入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D6F13A-32EA-4BB6-8F78-04C3B79E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543300"/>
            <a:ext cx="4191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D390B18-5FA7-47AD-BB50-BFC5D4D2A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619500"/>
            <a:ext cx="4038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提示 timeout、invalid、suspicious-low 风险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E29A5A-56C4-4420-8DA9-105AB582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981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2DE"/>
          </a:solidFill>
          <a:ln xmlns:a="http://schemas.openxmlformats.org/drawingml/2006/main" w="9525">
            <a:solidFill>
              <a:srgbClr val="C76B0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4FF2C19-55D1-42EC-90E5-5C064874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958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rPr>
              <a:t>Skill card 格式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8242891-50AF-4148-934D-2CD10107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9585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Skill / When / Do / Fallback / Safety：每张卡是短过程指令，不是长参考文档。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C49401F-8E68-4AF0-A5D6-030212210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关键原则：api_constraint 不参与检索竞争；failure_case 不占用 strategy top-k；history card 要通过 prior audit。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6E635C5-F3F6-4ABF-8D49-2F786E0A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A149B9F-BC69-4B14-82C3-E8CED2FE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704225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A499A8-90EA-43D8-818D-FA4E4575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CODE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3F08C8-4AC3-48B3-8F2A-E1E4D1BC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当前 TOCC 代码结构：controller、runner、summarizer 与 memory 分层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10304-C424-4D20-B276-1C3C1DF2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Python 层负责实验控制；官方 EOH 仍负责启发式代码生成和 evaluator。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08B06-B23C-4122-8136-CB50D941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81150"/>
            <a:ext cx="10953750" cy="3829050"/>
          </a:xfrm>
          <a:prstGeom xmlns:a="http://schemas.openxmlformats.org/drawingml/2006/main" prst="roundRect">
            <a:avLst>
              <a:gd name="adj" fmla="val 19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7E180-8109-41D3-ADED-EDCED0A7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81150"/>
            <a:ext cx="152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01456D-401E-4DA8-A549-210DD794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8DFB07-54D4-4662-A051-B89513FB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581150"/>
            <a:ext cx="419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FF6CFD-68E2-47D0-825B-0E7428C8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676400"/>
            <a:ext cx="403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代表文件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F3A2B-D267-40FB-BE4C-D75BBE31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81150"/>
            <a:ext cx="523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4C0DB6-343A-49CF-A74B-B4A309AA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76400"/>
            <a:ext cx="508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作用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2CA4C-DB8E-4FC3-83A2-52062467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1524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2671F-2A9F-4E26-8383-CE457457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1371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目标注册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34FF0-418A-4CEA-A23B-A4111CB9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962150"/>
            <a:ext cx="4191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67459A-EDF3-4CC5-A2D9-AB195BD8F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38350"/>
            <a:ext cx="4038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eoh_runner/target_spec.py, registry.py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A781ED-69A1-4DC2-A2B9-AB745E93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62150"/>
            <a:ext cx="5238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4762D4-54A9-493F-93A7-A63F7F8C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38350"/>
            <a:ext cx="5086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定义 TSP/CVRP/BP 等可进化目标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415532-6779-4482-AE11-E188007B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28875"/>
            <a:ext cx="1524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E1A8AD-B219-49EB-8EA5-D8A2BC47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5075"/>
            <a:ext cx="1371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官方 runner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8974A9-4114-47B3-B378-6A6C1CD7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428875"/>
            <a:ext cx="4191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29A7CE-022A-41AD-8306-B9FDC450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505075"/>
            <a:ext cx="4038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experiments/official_eoh_run.py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0FF43F-C0C0-49E9-A7DE-28EFEA05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28875"/>
            <a:ext cx="5238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D3BD6-13CD-4CF6-B027-BA344443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05075"/>
            <a:ext cx="5086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构造 RAG context，调用官方 EOH，输出 run summary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198EA2-E24B-4354-B324-BB3775DC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95600"/>
            <a:ext cx="1524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B7AAD0-84E8-41F2-84C3-B9E64D8B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71800"/>
            <a:ext cx="1371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TOCC controller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5CDB6F-9596-4BD6-B049-ED998E41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895600"/>
            <a:ext cx="4191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D14768-06B1-4142-AFD8-201E431D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71800"/>
            <a:ext cx="4038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operator_card_controller.py, tocc_agent.py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906C35-1144-4390-AB5F-55D18D02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95600"/>
            <a:ext cx="5238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926CB5-434D-4E67-B27C-455C168E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71800"/>
            <a:ext cx="5086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规则诊断 / LLM proposal / card selection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D8D0A2-76C0-4D88-990A-05A4EA27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62325"/>
            <a:ext cx="1524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BEB8EB-887E-4C67-AF9C-D8CAE240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38525"/>
            <a:ext cx="1371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Gatekeeper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2823E0-6F47-4258-ACDE-AA36E44A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62325"/>
            <a:ext cx="4191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0A6003-CF0C-4C3E-A248-B11E8838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438525"/>
            <a:ext cx="4038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tocc_gatekeeper.py, card_prior_decisions.py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0F505E-A028-441B-8713-6BDED92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62325"/>
            <a:ext cx="5238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A83259-41A6-4425-9788-E9B56889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38525"/>
            <a:ext cx="5086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校验 proposal、cards、prior decisions 和风险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022665-28B1-4B08-8FD3-D6A349E9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29050"/>
            <a:ext cx="1524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5C8274-B0E2-435E-8E50-385B98E0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1371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Manifest runner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BB518F-BCA4-478B-815B-478771A1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829050"/>
            <a:ext cx="4191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C0FC2B-E056-41C3-9A3F-7CE4C70D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05250"/>
            <a:ext cx="4038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run_experiment_manifest.py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6415F6-CEAC-4484-A4AA-57501C77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29050"/>
            <a:ext cx="5238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4146FBC-BAFC-41B9-BCD9-97F109D9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5086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展开 arms/repeats，支持 selected_card_ids 精确注入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80F6CE-EFF3-4339-B221-8773437B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1524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96F817-D064-4B8A-8182-2B287D51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71975"/>
            <a:ext cx="1371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Auto summarizer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432B50-54EE-4A99-99B1-6E749479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295775"/>
            <a:ext cx="4191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4ADE5-9F4F-46F2-AE89-B7B1E7F7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71975"/>
            <a:ext cx="4038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summarize_manifest_runs.py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9229A3-7528-494E-921E-8EBB845A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95775"/>
            <a:ext cx="5238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F8DFE94-26B6-48F5-9871-8C1C6EBA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71975"/>
            <a:ext cx="5086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汇总 objective、valid、best code、success funnel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56E48F-E8E8-4CAE-92D1-E88F1CD5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62500"/>
            <a:ext cx="1524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A8AC5A0-F67B-41D4-9C34-5F6DAD42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1371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RAG + Memory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C66FFC9-2EE7-4BE0-B35E-F21F9F73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762500"/>
            <a:ext cx="41910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1389A2E-17B7-4F05-BDE2-27AD0763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838700"/>
            <a:ext cx="4038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rag/build_corpus.py, prompt_context.py, card_synthesis.py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164BEF6-AEBE-4064-92D5-7368A9EB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62500"/>
            <a:ext cx="52387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EC48F00-172A-414A-866B-65FBF3AEA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38700"/>
            <a:ext cx="5086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加载 cards、格式化 prompt、从 best_code 生成 history card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D715FA5-8245-41D0-A246-924CBE1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6997473-46CF-493E-86BC-01C01459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278102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98CB8A-7FDE-458F-AB68-88B1E79E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EXECUTION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BCFDE-8F35-48AF-B56C-D3E4107A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V1 / V2 / V3：从规则诊断到 bounded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1D3EF-8F0F-4731-9BF4-3EA97270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当前 V3 是受预算约束的小闭环，不是无限自动大矩阵。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91699E-8857-4F30-BAF5-490B307E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95450"/>
            <a:ext cx="29527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F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3287D-A228-4639-8A9F-3C9067C4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00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V1 规则 controller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DEE027-6EE0-4851-A032-50779DAF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00300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summary -&gt; diagnosis -&gt; selected cards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98ADB2-6D89-46A1-BE59-CDE312CC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4003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B64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15C1DD-FAA9-450C-AA22-4321F6A1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95450"/>
            <a:ext cx="29527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6B0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0C412D-60E3-41CB-892A-C7EE2EB6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0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rPr>
              <a:t>V2 LLM proposer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BEFD6-DBE4-4C49-AFEC-53B3B384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00300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proposal -&gt; rule gatekeeper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F1CBA5-0C5F-4795-9EF7-0C03D37A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400300"/>
            <a:ext cx="304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B64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F1F473-6FB5-4A08-8DE1-52D6612C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95450"/>
            <a:ext cx="29527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8B5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EE3282-9CB1-4E40-85FD-A81CAC00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00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rPr>
              <a:t>V3 bounded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42A3C-67FF-4661-B363-8B41DB2A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00300"/>
            <a:ext cx="2428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manifest arm -&gt; official run -&gt; summary -&gt; next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6DEDED-8310-47BB-AD0D-1183D0FF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13144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741D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F60870-A023-41FB-92AD-5E6E16A8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BA2375-4D0C-4B05-8604-B88CF80A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13CEB2-E0B4-4D01-B0C6-F95EC51D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196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741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B64703-08B9-4234-A233-09399101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71950"/>
            <a:ext cx="13144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741D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5615ED-E1BD-4A37-BA23-5220E74E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305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rPr>
              <a:t>proposer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458FA-CD2A-44E6-AE47-EC432A75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720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提出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FEDCAF-A894-466F-B688-8208EE47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196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741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26DA39-9F4F-4053-AAC5-F3525AF1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71950"/>
            <a:ext cx="13144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741D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0AD611-7F4B-43D3-A0A2-E139A608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305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rPr>
              <a:t>gate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6CBBD2-E717-4156-86C9-E96E9BC4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720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门禁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E6DEEF-1F4E-49B7-BE58-DAAC0EBF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6196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741D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E145C2-AADD-4AEE-AB70-A8EC328F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71950"/>
            <a:ext cx="13144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741D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F92827-FE95-4809-8D51-4F1FAB3F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05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rPr>
              <a:t>run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B3DC1E-8D8F-4FD0-834C-E58F26C2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720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DFC336-3DB3-4422-9DC6-7DF9B7EF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196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741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B47675-E4D8-4C38-8DCB-8917BD42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71950"/>
            <a:ext cx="13144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741D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810215-6FFE-4057-A7A0-664997B7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05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rPr>
              <a:t>summary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CC4628-FE92-4260-934B-857970DF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720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汇总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60284F-F78A-402B-9940-B2B416CB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196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741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5B28B1-2CA0-40E7-A1D4-2E20022A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171950"/>
            <a:ext cx="13144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741D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28AD1B-E6BB-40CF-B473-E6B25DC8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305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rPr>
              <a:t>memory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E7B29F-0496-4464-B79F-59DBA475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记忆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920ED5-37D9-44F3-9899-95A19059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98812A-AE43-456E-AF77-53E36823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446481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C883E0-4D1D-414C-9B66-7B17AC66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SUCCESS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9897FE-8713-4F19-AA34-DBA5E37E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TOCC 不只看 objective，而是看 agent 是否真正成功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D1F98D-8C29-44CA-AE63-AA1276B3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default_rag 可能 objective 看似不差，但 generation 层坍缩到 seed，不能算有效搜索。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F6BFF-22D9-44F5-AD5C-694D7AB0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57350"/>
            <a:ext cx="8858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F5FB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E88F40-E823-41CF-8481-018BBCA5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907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Proposal Accept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CFC4D8-E905-42A1-A709-D4A08DF1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00225"/>
            <a:ext cx="542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gatekeeper 通过，无 infra failure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7B8545-3001-4ACA-8A9D-BD7C988B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81250"/>
            <a:ext cx="79819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F5FB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272B2-A5A2-4870-A5FB-06026EAB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25146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Linkage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EE89D1-7CB5-4739-AEA4-52B51E5D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524125"/>
            <a:ext cx="455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selected_card_ids 与实际 rag_trace 一致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A69427-D6DD-4D4D-B073-86DA3AB7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105150"/>
            <a:ext cx="71056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F5FB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839B11-CAEF-4118-8B36-7DDA0DAB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32385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Generation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E261D2-A0BB-492C-8748-6F87D9E3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48025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valid candidates 达到阈值，无 valid collapse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F79429-5411-42C3-9425-D07598C9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6229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0F8B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55C159-B04D-4930-B6A2-7EC26F98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9624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rPr>
              <a:t>Objective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61A315-DD3F-4316-BD43-5E2D4B6C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71925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best objective 优于 pure baseline mean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C8763-2B32-4675-8580-FD79D63D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552950"/>
            <a:ext cx="53530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0F8B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87E631-E2F4-47BA-9B01-2A310B8A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6863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rPr>
              <a:t>Diagnosis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195F6C-C363-494B-8F91-579A54E1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695825"/>
            <a:ext cx="1924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诊断引用 trace 证据且与 trace 一致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CED022-D3DF-4BF0-B886-BE695AB3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85950"/>
            <a:ext cx="23812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2DE"/>
          </a:solidFill>
          <a:ln xmlns:a="http://schemas.openxmlformats.org/drawingml/2006/main" w="9525">
            <a:solidFill>
              <a:srgbClr val="C76B0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4E4196-EAE9-42D1-A03E-7E04DE2F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33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rPr>
              <a:t>为什么重要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4FFA8F-3277-43EE-806C-83C22A9E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571750"/>
            <a:ext cx="190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把失败定位到 proposal / linkage / generation / objective</a:t>
            </a:r>
          </a:p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避免把 seed 回退误写成算法提升</a:t>
            </a:r>
          </a:p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为后续 agent 成功率统计留字段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4F7DBA-C374-42DC-A170-6646864C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9B002B-99C5-4CD4-8908-64960385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966678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955468-92A7-404C-A77D-9A62EB19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CVRP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569EDF-9CC8-43D2-9D35-A01EE50A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CVRP 是当前最可靠正面证据：选卡改变搜索方向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CEC73-3F96-4526-8F3E-467A654A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tocc_corrected 在 8 次重复中全部优于 pure mean；default_rag 5/5 generation collapse。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81C4E-433A-457D-BDF8-26774ECE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335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pure_eoh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4E5B59-4593-4F7B-B664-20BEFC05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924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C5031-3D75-45B9-95B5-4C01AB58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924050"/>
            <a:ext cx="3905384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FB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724EB-9770-4FED-9528-3E7A6C91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14525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13.540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79EE92-D0A8-450B-9AA1-CED8EBD3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24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n=8, valid 8/8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64E6E2-E917-407E-9F79-FFB4D804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812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default_rag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D178E-5D93-4738-8A76-FF86F1B9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717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94BED8-A479-4C6F-B791-5988DEBA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71750"/>
            <a:ext cx="3831257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352B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BFB28-F6A4-41B8-8C9A-08F16ACE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62225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635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6352B"/>
                </a:solidFill>
                <a:latin typeface="Microsoft YaHei"/>
                <a:ea typeface="Microsoft YaHei"/>
                <a:cs typeface="Microsoft YaHei"/>
              </a:rPr>
              <a:t>13.283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2F595B-A403-4CBD-A7C7-A0A1A564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717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n=5, 0/5 generation success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09DCBD-C4B9-4DFC-918E-4C8295EE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289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tocc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2001CE-A192-49D8-9815-70CE6124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194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7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25AC06-4B3B-4F0F-8C88-E771B9F4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19450"/>
            <a:ext cx="3742419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5F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6A864F-A7DC-42EF-A739-ACAF6073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09925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rPr>
              <a:t>12.975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8B40A-0C2A-46FB-9B9A-C3AE5CF7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194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n=8, 8/8 优于 pure mean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F269F-DDFD-4589-B3D1-7B67F52B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09750"/>
            <a:ext cx="2857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2DE"/>
          </a:solidFill>
          <a:ln xmlns:a="http://schemas.openxmlformats.org/drawingml/2006/main" w="9525">
            <a:solidFill>
              <a:srgbClr val="C76B0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29B76E-FDD9-4F37-8814-03B011EC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812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6B00"/>
                </a:solidFill>
                <a:latin typeface="Microsoft YaHei"/>
                <a:ea typeface="Microsoft YaHei"/>
                <a:cs typeface="Microsoft YaHei"/>
              </a:rPr>
              <a:t>核心差异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2FF55A-0A7A-41A9-BC3F-48B6EA52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card swap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9F8B21-E657-439E-B0B0-8EFB6E4F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384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cvrp_nearest_capacity -&gt; cvrp_regret_insertion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2B65B5-0E2E-48D7-8F1E-2E7A67D0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05200"/>
            <a:ext cx="2857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0F8B5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9555A9-26E3-4938-936F-2803314E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766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rPr>
              <a:t>改善幅度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F80922-7A94-40C1-862E-1068D21F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4.2%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CE54DB-2CFF-42AE-A6E4-2EA45FED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339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平均 objective 相对 pure mean 下降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455E93-D6A4-4F37-9A7F-043226AE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942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结论：不是“RAG 自然有效”，而是 trace-conditioned 选卡让 generation 和 objective 两层同时通过。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F02595-442A-48AD-8989-71B4241B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57DDA2-2B84-4052-B26D-F4F495FE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50042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0B8B85-8704-4109-BECF-1696193D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TSP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116265-71B9-47C5-B63E-081BF8A3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TSP 有方向信号，但还不能写成稳定证明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00F4D6-3ACB-480B-9DE9-CA48D04B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gen=0 方差很大；gen=4 后 TOCC 有小幅 exploratory positive。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D9B73-8C3A-422F-8FE4-B161AC89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763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93CAB-97BD-4D97-9958-B0EA3664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190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E6BBCA-A3DC-49C8-92D2-9EBDD394C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arm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67A8E6-088E-4BDF-8ED1-46ED7ADF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76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50D0D5-04A4-4785-A7FE-322E87CD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9070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2143B-F0AF-4D74-BCF2-E078B9BD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95450"/>
            <a:ext cx="123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83120F-D4A4-41A8-B288-9979C8E7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9070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mean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736921-79A7-4AC3-9A23-F506CDAE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95450"/>
            <a:ext cx="123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2A8EB3-8B79-4957-8BCC-B46FB037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9070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AF4D1-5258-46FC-A040-2B10C3E8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95450"/>
            <a:ext cx="1238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45486-9DF7-4391-8327-566B53CB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max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1EC6E1-2F59-4F2E-B15D-CC120A20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4095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E78C35-ACEB-4A94-9176-2122D173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9070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90B31E-C906-428F-92AB-6F5D638A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9F4909-7DFA-46AF-9538-D5C805B8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pure_eoh gen=0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0B069B-C1E7-4A5E-82F2-26AE39EE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76450"/>
            <a:ext cx="76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F45580-4A9D-42A0-9EDB-4E9B0046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5265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FF7F61-A5FD-4E86-B56C-9A64A4BD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764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64B74E-8F49-42E4-912D-FC11A5D8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526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6.751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56ABB6-C6CE-414A-8DD7-F67E5534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764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F5A2A8-7012-414F-83D1-93929A20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526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6.590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717D1B-22FB-40E1-9A7E-E46FA925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764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005A34-B6A4-449D-8388-37D95267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526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7.057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AC22E-D4E9-4D1F-BEE0-B9C4D348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764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622A3E-4090-4F1E-8E90-09F58417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52650"/>
            <a:ext cx="3943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方差较大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0EB386-B7B5-455A-84B7-9E190DF6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191D01-67D4-4EF7-822A-390EE52D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tocc_corrected gen=0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584F2F-6988-4555-9340-3C2B45EA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71750"/>
            <a:ext cx="76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8A1EFB-7527-45FB-9B6D-D26CC79F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4795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F965A0-435E-4A6B-B586-24C5ED43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5717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9AFAAB-5C23-4EBB-AA55-4BFFB446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479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7.372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CCC9A5-53BA-4641-8772-99CE65814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717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7F79A1-40C5-4B0D-89B4-5C8D6AFE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479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6.189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5F8759-31B7-4CAF-9235-8BF5BBD0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717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4FCB97-FD99-4707-A6EA-F0F1A315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479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9.656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86E652-4A55-4278-88FF-9B727002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71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6800A8-5FD2-42BC-982A-453380DB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47950"/>
            <a:ext cx="3943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同卡组合 outlier 明显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C6CAB-6E19-43FD-9230-A504E672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1F6BB8-BCE2-42DD-AE1E-B9DF32BB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pure_eoh gen=4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FADD8A-B10E-4043-842B-3ACA28BC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67050"/>
            <a:ext cx="76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75E906-5D69-4A32-B9AD-1E29E57D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19E9D9C-1370-47AF-85FB-D2824FA3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670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DA1A579-33DD-4B24-912B-D153338A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432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6.548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EF3222D-6F48-4495-8813-0B8E4FBA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670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2A4C9B-328B-4A77-AC65-DE8246A9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432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6.430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5770698-2099-46E6-912F-7621CB1B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0670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51D999F-25B5-4261-8C72-914DE556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6.608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CC2CBE-810E-43BE-A8B4-E90DD87A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670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341F3BD-95AF-482F-BAA1-1AB71984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43250"/>
            <a:ext cx="3943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进化深度降低方差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F5A94CF-2789-404A-AD89-EF624F63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592BD0F-2478-49E0-9BB1-F7C93F09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tocc_corrected gen=4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3AE4865-D019-406C-8A9B-E1F96E4B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562350"/>
            <a:ext cx="76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6140147-F3F6-4EE9-87C2-435C2088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3855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6032791-E8D4-48FD-A87F-98C53F5D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9BD3ECA-D7E0-43D1-892F-8946C840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385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6.456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37BE4AF-729C-4C1D-BAFB-191CC0E3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623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A9BABA-CE84-4CE7-A92D-D17C1232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385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6.292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EFF465E-23B6-4663-A914-21F885E2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562350"/>
            <a:ext cx="1238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F9F4B59-AA22-48EF-8566-9309DD74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6.615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8A71108-68E7-4EFD-9AE6-F09E3B83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5418393-823F-4E5A-B240-98EC9685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38550"/>
            <a:ext cx="3943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小幅正向，约 1.4%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F75BBD1-BD7D-452C-B684-EE863C3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93345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6741D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78787CB-A334-44C3-817D-BFD17439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741D9"/>
                </a:solidFill>
                <a:latin typeface="Microsoft YaHei"/>
                <a:ea typeface="Microsoft YaHei"/>
                <a:cs typeface="Microsoft YaHei"/>
              </a:rPr>
              <a:t>写法边界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7007A36-449A-445D-9331-434EAD49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876800"/>
            <a:ext cx="714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当前只能写：TOCC 在 TSP gen=4 下出现 exploratory positive；需要更多问题/benchmark 支撑论文级主张。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370651D-5167-41D2-8B71-DDCBCEF3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2C8D087-C419-438C-AC17-A6B56FAF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56716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62B411-74EA-4C01-9683-F5252FE8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HISTORY-CARD MEMORY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870390-1C9D-4880-879F-B49EA8A7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历史代码记忆已接入闭环，但不是默认增强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D37C0-5E45-442C-A4FB-F435701F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best_code 可以合成 history card；但复杂历史 prior 需要拆分、审计、降权或阻断。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DA6D60-AC41-4EDB-92D4-AD3D3281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01350" cy="329565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235135-F358-4DAC-A334-A0E35A9E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1BCCEE-9DE8-4F75-8F39-499839E3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实验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CFAD6-7E38-4108-BE6E-681A21E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581150"/>
            <a:ext cx="3143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F2E86-5C9D-4286-B6C5-BFD74CC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7640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arm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45C91A-5373-494D-8454-06481228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581150"/>
            <a:ext cx="114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4E8FB0-2112-4024-94AD-74EBF09F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67640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best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351DB3-EA32-40A3-9F0F-636CBA75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581150"/>
            <a:ext cx="95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65B3FF-DF99-4809-985D-51C45FE6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valid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380928-3973-444D-BA3B-402AAE69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5811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609196-D6B8-423E-8A7E-A3DA9578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7640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82317E-93B2-46AC-BB02-156D2D03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00C695-2AB4-4997-BAB0-7BF94621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naive mixed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EEFD96-2799-41B3-991B-D9DEAC30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96215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7A074F-5E44-4E45-8899-62086F17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3835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literature_regret_far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39E353-57D3-42BB-9831-98D36777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9621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17DD61-28E2-4711-A523-4195BFF4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383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13.094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1BDE8D-1704-4B6A-A84D-A8FAC18B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621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95D0A5-BA77-4F6B-BAAD-8BCFEB42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4/4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6BBA56-7C2B-4932-ABED-882CDE8E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62150"/>
            <a:ext cx="3943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452E1-F9F3-4653-9E39-887AB0EDF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38350"/>
            <a:ext cx="3790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文献卡更稳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7EE544-5CEC-47A5-AC41-F39AF7C1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711BED-528D-4ECB-B275-D97F07CE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955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naive mixed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01CFE0-2BBA-4D57-AE10-4726A324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1935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81CFBB-9776-4060-9D23-9D6C5295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9555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mixed_history_far_regret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74CAAF-664C-462E-AB7A-3B85705C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4193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E90C07-8616-4E39-8E1A-67B94F77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95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14.210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5A752C-7171-45AC-B617-8A5D579A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193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3F5378-2FD7-4CC3-8255-811A0894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955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4/4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421E0B-4651-493F-888D-2A7B9ED8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19350"/>
            <a:ext cx="3943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B5861F-78B9-4B6F-A450-7FA495A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95550"/>
            <a:ext cx="3790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复合 history card 变差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D75755-CEE6-4384-A37D-13AEEC60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1324A9-8740-4DA9-95CB-1B819BFC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split history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6D7D58-38D9-4036-A1C8-76258F72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87655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990B47-9822-48DE-9C03-84BE35FE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95275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literature_regret_far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CDF6A2-F329-434E-B63A-BA81454D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765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DE0BCA-1729-4762-B620-6E25606C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12.728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36EAE7-E7E0-4907-B554-C70A7BA8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765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AF02AF-60DE-4F5B-BCD6-1B50746A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527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4/4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033F31-5644-4549-9FEC-22A038DB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76550"/>
            <a:ext cx="3943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5D7B88-793D-43D8-8E5D-193DE534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52750"/>
            <a:ext cx="3790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当前 best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BBB133E-8ABA-40EA-BC8D-F13FA8E3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0B2D57-5E1E-42BC-9F3C-2A213B4C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099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split history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14CA9BB-E200-41C9-94BC-59EAAC77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33375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318A0A2-E3F7-4D67-95F1-9D6AC309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0995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split_far_seed_regret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EB4D829-762E-4820-9100-A544BF6B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337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6F08B75-9F5C-4025-BB25-586A0CA5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99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13.005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4669363-5834-41D1-A31F-83A0C120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337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719180-93EE-40B1-A0A2-AC7E3D5F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099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4/4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8143C32-9A1C-4F48-8DEE-52ABC4D7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333750"/>
            <a:ext cx="3943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8C2FBDC-7267-4F3A-98BB-892B89D5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09950"/>
            <a:ext cx="3790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未超 literature-only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F99A080-1E76-412D-80B2-13D44A94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246658B-3375-4CD3-B0B1-4EFE573C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split history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34FD592-F66C-4077-B0F0-CE1036A2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9095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71E573C-C641-493D-8577-3E0606D9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split_capacity_filter_regret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2EC76BE-635C-4BD1-9B88-E64E8BAC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909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ECCAD00-42D7-46E5-99A0-DCA5366D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671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13.236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E804520-A255-41A8-A8E7-22C19340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909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16A9EEA-B4FA-47F7-984F-0B063205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671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4/4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B02F18C-4BB5-4ACB-A4BB-B91E2DF7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790950"/>
            <a:ext cx="3943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1C29918-B4E5-4850-904D-8EA25593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67150"/>
            <a:ext cx="3790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应降权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85D93D1-2694-4897-8497-C38E6CB5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AA9BC91-A8B5-4D68-8F54-F650499F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split history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5A8D658-663F-4CC8-9DF7-8A15CE67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24815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3963D38-6773-4B2D-BBAD-A60D2794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2435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split_remaining_alpha_far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7792786-6F34-4075-969F-3E7CB0D7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2481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DCBCA7C-2781-4403-9AC4-B006C98D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12.961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43C5424-60A9-4B30-BF28-83B1A577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481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C70BD14-729D-49A3-B796-9D3DEF9F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24350"/>
            <a:ext cx="800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4/4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44793F4-32D4-4162-9E35-2DD99B1E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248150"/>
            <a:ext cx="3943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09BA37C-0959-442E-96DA-5A23BE69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24350"/>
            <a:ext cx="3790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watchlist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EC72F2B-FF9D-4DBC-8839-3F94BFAD3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78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结论：history prior 可控接入；历史最优代码不能直接压成复杂大卡，必须拆成小 operator，并由 TOCC 基于 trace 选择。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1469E00-4840-45F4-BB28-D59A4022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C2AA236-026E-4D87-A01D-6A570D6E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178770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58098E-E9D6-408E-8EF3-C5CB8AF4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BEST CODE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18770B-2359-459F-B14E-21CE8D49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报告必须展示代码怎么变，而不只写策略变化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85F23-41B5-490D-8671-F7F2DFB1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以下片段来自当前自动报告记录的 best code。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40F36-AC2E-44EC-8F7D-6CDEA7E6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5143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1F5F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7881B-2928-4965-AC5E-9E571196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47850"/>
            <a:ext cx="48006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TSP gen=4 TOCC best | score=6.29166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n_unvisited = len(unvisited_nodes)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dist_from_current = distance_matrix[current_node][unvisited_nodes]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dist_to_dest = distance_matrix[destination_node][unvisited_nodes]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regrets = []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for i, u in enumerate(unvisited_nodes):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    avg_dist_to_others = np.mean(distance_matrix[u][others])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F4FD3A-385E-487E-917C-BCFB15AC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95450"/>
            <a:ext cx="5143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F8B5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D99D1C-9B51-43AC-ACCA-F3F968EF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47850"/>
            <a:ext cx="48006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CVRP split-history literature-only best | score=12.72795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dist_from_current = distance_matrix[current_node, unvisited_nodes]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dist_from_depot = distance_matrix[depot, unvisited_nodes]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range_curr = max_curr_dist - min_curr_dist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if range_curr == 0: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    range_curr = 1.0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95E855-3FC6-4398-B8E1-FA2CD0B5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00550"/>
            <a:ext cx="85725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C76B0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526CB-59B1-4888-B99F-4F258E9B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552950"/>
            <a:ext cx="8229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CVRP history watchlist | score=12.96129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remaining_ratio = len(unvisited_nodes) / total_customers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alpha = min(1.0, max(0.0, remaining_ratio))</a:t>
            </a:r>
          </a:p>
          <a:p xmlns:a="http://schemas.openxmlformats.org/drawingml/2006/main">
            <a:pPr algn="l">
              <a:defRPr sz="900" b="0">
                <a:solidFill>
                  <a:srgbClr val="E8EEF8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E8EEF8"/>
                </a:solidFill>
                <a:latin typeface="Menlo"/>
                <a:ea typeface="Menlo"/>
                <a:cs typeface="Menlo"/>
              </a:rPr>
              <a:t>far_candidates = unvisited_nodes[dist_from_depot &gt;= median_dist]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ADD37F-B482-44D8-B1C4-596AF6DD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9CC69-1CFD-4A94-B4F3-3EE6F2D0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59195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45A5AA-12F1-48B9-92E5-F62EC0C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F5FBF"/>
                </a:solidFill>
                <a:latin typeface="Microsoft YaHei"/>
                <a:ea typeface="Microsoft YaHei"/>
                <a:cs typeface="Microsoft YaHei"/>
              </a:rPr>
              <a:t>BOUNDARIES &amp; NEXT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7E25AD-693B-4CCD-A73E-9A738AF9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当前能写什么、不能写什么，以及下一步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8247B-217D-41C4-8C30-7EA69161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边界写清楚比夸大结果更重要；下一阶段重点是新 benchmark 与实时探索 agent。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557A7-3D74-4171-BAF6-A4AB3F58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4762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DECEC"/>
          </a:solidFill>
          <a:ln xmlns:a="http://schemas.openxmlformats.org/drawingml/2006/main" w="9525">
            <a:solidFill>
              <a:srgbClr val="C6352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37E98A-BF07-439C-9BBB-AA579FE1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62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635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6352B"/>
                </a:solidFill>
                <a:latin typeface="Microsoft YaHei"/>
                <a:ea typeface="Microsoft YaHei"/>
                <a:cs typeface="Microsoft YaHei"/>
              </a:rPr>
              <a:t>不能写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88508-7EF1-4B95-80FE-D3284A02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000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TOCC 已证明统计显著提升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RAG 一定有效或一定无效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TSP/CVRP 已足够支撑完整论文实验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History-RAG 已经带来收益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V3 可以直接自动跑大矩阵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9DD61-57DD-4D56-BB89-64E17126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76400"/>
            <a:ext cx="4762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7EF"/>
          </a:solidFill>
          <a:ln xmlns:a="http://schemas.openxmlformats.org/drawingml/2006/main" w="9525">
            <a:solidFill>
              <a:srgbClr val="0F8B5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84B6BE-973F-4A2C-BACF-F352084A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62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F8B5F"/>
                </a:solidFill>
                <a:latin typeface="Microsoft YaHei"/>
                <a:ea typeface="Microsoft YaHei"/>
                <a:cs typeface="Microsoft YaHei"/>
              </a:rPr>
              <a:t>可以写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469F71-7104-4198-83F5-005215AC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381250"/>
            <a:ext cx="4000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TOCC 是 trace-conditioned operator-card controller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工程闭环已完成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CVRP 有 repeat-level positive signal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Success funnel 能解释 RAG 失败来源</a:t>
            </a:r>
          </a:p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history memory 已接入，但需 gate/audit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95547C-4C68-48A1-A729-62FDC342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952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F5F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F90349-2403-45C1-9260-56123B5B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816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下一步：整理论文方法段；新增官方 benchmark；固化 exploration_analyst，实时监控 valid rate、selected cards、context truncation。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092A0-0BE0-48EB-8694-913E028C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TOCC current progress | local reports, 2026-06-19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19DAF-E5B5-488E-8464-FA3DE9E3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438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94A6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904370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2026-06-18T23:36:45.5390000Z</dcterms:created>
  <dcterms:modified xsi:type="dcterms:W3CDTF">2026-06-18T23:36:45.5390000Z</dcterms:modified>
</coreProperties>
</file>