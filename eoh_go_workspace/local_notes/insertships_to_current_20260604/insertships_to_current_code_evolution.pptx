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9a0e0c26014916" /><Relationship Type="http://schemas.openxmlformats.org/officeDocument/2006/relationships/extended-properties" Target="/docProps/app.xml" Id="Rd830247273454aea" /><Relationship Type="http://schemas.openxmlformats.org/officeDocument/2006/relationships/officeDocument" Target="/ppt/presentation.xml" Id="R9928881bc7f5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dcf0d6e2e04d77"/>
  </p:sldMasterIdLst>
  <p:notesMasterIdLst>
    <p:notesMasterId xmlns:r="http://schemas.openxmlformats.org/officeDocument/2006/relationships" r:id="Ra152db4360e441a6"/>
  </p:notesMasterIdLst>
  <p:sldIdLst>
    <p:sldId xmlns:r="http://schemas.openxmlformats.org/officeDocument/2006/relationships" id="256" r:id="Re773644b08854b23"/>
    <p:sldId xmlns:r="http://schemas.openxmlformats.org/officeDocument/2006/relationships" id="257" r:id="Rddfd1644643649a4"/>
    <p:sldId xmlns:r="http://schemas.openxmlformats.org/officeDocument/2006/relationships" id="258" r:id="R2eae758a70174b78"/>
    <p:sldId xmlns:r="http://schemas.openxmlformats.org/officeDocument/2006/relationships" id="259" r:id="R91f9b8eedadd4e70"/>
    <p:sldId xmlns:r="http://schemas.openxmlformats.org/officeDocument/2006/relationships" id="260" r:id="R59707c2c7c09402e"/>
    <p:sldId xmlns:r="http://schemas.openxmlformats.org/officeDocument/2006/relationships" id="261" r:id="R473f869f196e4ecb"/>
    <p:sldId xmlns:r="http://schemas.openxmlformats.org/officeDocument/2006/relationships" id="262" r:id="R2741124e91564ddb"/>
    <p:sldId xmlns:r="http://schemas.openxmlformats.org/officeDocument/2006/relationships" id="263" r:id="R6920b6f61aa04e19"/>
    <p:sldId xmlns:r="http://schemas.openxmlformats.org/officeDocument/2006/relationships" id="264" r:id="R72575e5a6f394f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5dc794fba4b53" /><Relationship Type="http://schemas.openxmlformats.org/officeDocument/2006/relationships/slideMaster" Target="/ppt/slideMasters/slideMaster1.xml" Id="Rb4dcf0d6e2e04d77" /><Relationship Type="http://schemas.openxmlformats.org/officeDocument/2006/relationships/notesMaster" Target="/ppt/notesMasters/notesMaster1.xml" Id="Ra152db4360e441a6" /><Relationship Type="http://schemas.openxmlformats.org/officeDocument/2006/relationships/presProps" Target="/ppt/presProps.xml" Id="Rdcdbaed84b0c484f" /><Relationship Type="http://schemas.openxmlformats.org/officeDocument/2006/relationships/viewProps" Target="/ppt/viewProps.xml" Id="R95e799bf58c24d14" /><Relationship Type="http://schemas.openxmlformats.org/officeDocument/2006/relationships/tableStyles" Target="/ppt/tableStyles.xml" Id="R4d7dd71c8e6c4031" /><Relationship Type="http://schemas.openxmlformats.org/officeDocument/2006/relationships/slide" Target="/ppt/slides/slide1.xml" Id="Re773644b08854b23" /><Relationship Type="http://schemas.openxmlformats.org/officeDocument/2006/relationships/slide" Target="/ppt/slides/slide2.xml" Id="Rddfd1644643649a4" /><Relationship Type="http://schemas.openxmlformats.org/officeDocument/2006/relationships/slide" Target="/ppt/slides/slide3.xml" Id="R2eae758a70174b78" /><Relationship Type="http://schemas.openxmlformats.org/officeDocument/2006/relationships/slide" Target="/ppt/slides/slide4.xml" Id="R91f9b8eedadd4e70" /><Relationship Type="http://schemas.openxmlformats.org/officeDocument/2006/relationships/slide" Target="/ppt/slides/slide5.xml" Id="R59707c2c7c09402e" /><Relationship Type="http://schemas.openxmlformats.org/officeDocument/2006/relationships/slide" Target="/ppt/slides/slide6.xml" Id="R473f869f196e4ecb" /><Relationship Type="http://schemas.openxmlformats.org/officeDocument/2006/relationships/slide" Target="/ppt/slides/slide7.xml" Id="R2741124e91564ddb" /><Relationship Type="http://schemas.openxmlformats.org/officeDocument/2006/relationships/slide" Target="/ppt/slides/slide8.xml" Id="R6920b6f61aa04e19" /><Relationship Type="http://schemas.openxmlformats.org/officeDocument/2006/relationships/slide" Target="/ppt/slides/slide9.xml" Id="R72575e5a6f39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4c717d186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e200f2839c45df" /><Relationship Type="http://schemas.openxmlformats.org/officeDocument/2006/relationships/notesMaster" Target="/ppt/notesMasters/notesMaster1.xml" Id="R4e58cfba2208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3000cb39ae4b75" /><Relationship Type="http://schemas.openxmlformats.org/officeDocument/2006/relationships/notesMaster" Target="/ppt/notesMasters/notesMaster1.xml" Id="Rad468e1a2d354a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56bb7964e441a" /><Relationship Type="http://schemas.openxmlformats.org/officeDocument/2006/relationships/notesMaster" Target="/ppt/notesMasters/notesMaster1.xml" Id="Rbd00e6e0cbf9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6e5facb024a09" /><Relationship Type="http://schemas.openxmlformats.org/officeDocument/2006/relationships/notesMaster" Target="/ppt/notesMasters/notesMaster1.xml" Id="R08174f3a9134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6feb754454299" /><Relationship Type="http://schemas.openxmlformats.org/officeDocument/2006/relationships/notesMaster" Target="/ppt/notesMasters/notesMaster1.xml" Id="R75ddb6e515b2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6342db6b3442f0" /><Relationship Type="http://schemas.openxmlformats.org/officeDocument/2006/relationships/notesMaster" Target="/ppt/notesMasters/notesMaster1.xml" Id="R008ebbba8dd044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bd3cda5b154f8a" /><Relationship Type="http://schemas.openxmlformats.org/officeDocument/2006/relationships/notesMaster" Target="/ppt/notesMasters/notesMaster1.xml" Id="Rf5a1d4fd4dee4e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25c3221bec4b23" /><Relationship Type="http://schemas.openxmlformats.org/officeDocument/2006/relationships/notesMaster" Target="/ppt/notesMasters/notesMaster1.xml" Id="R278974da3ca449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7c4484ef04fad" /><Relationship Type="http://schemas.openxmlformats.org/officeDocument/2006/relationships/notesMaster" Target="/ppt/notesMasters/notesMaster1.xml" Id="R1598655e63a4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08fd58356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277339da04465" /><Relationship Type="http://schemas.openxmlformats.org/officeDocument/2006/relationships/slideLayout" Target="/ppt/slideLayouts/slideLayout1.xml" Id="R77c10dc6c4f747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c10dc6c4f747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c7fe1ae64914" /><Relationship Type="http://schemas.openxmlformats.org/officeDocument/2006/relationships/notesSlide" Target="/ppt/notesSlides/notesSlide1.xml" Id="Rccb46d0a0b20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4da372749409e" /><Relationship Type="http://schemas.openxmlformats.org/officeDocument/2006/relationships/notesSlide" Target="/ppt/notesSlides/notesSlide2.xml" Id="R105b7c093b1643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8fc8d18745b4" /><Relationship Type="http://schemas.openxmlformats.org/officeDocument/2006/relationships/notesSlide" Target="/ppt/notesSlides/notesSlide3.xml" Id="Rb635d7f9a360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ab6699d394bb6" /><Relationship Type="http://schemas.openxmlformats.org/officeDocument/2006/relationships/image" Target="/ppt/media/image.png" Id="R44f67b2406fd44c0" /><Relationship Type="http://schemas.openxmlformats.org/officeDocument/2006/relationships/notesSlide" Target="/ppt/notesSlides/notesSlide4.xml" Id="R6bb4d9f9bddd44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d3a0c7188412f" /><Relationship Type="http://schemas.openxmlformats.org/officeDocument/2006/relationships/notesSlide" Target="/ppt/notesSlides/notesSlide5.xml" Id="R0097636fb59a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b7865716c42e9" /><Relationship Type="http://schemas.openxmlformats.org/officeDocument/2006/relationships/notesSlide" Target="/ppt/notesSlides/notesSlide6.xml" Id="R4576e45ed588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911afa94a41bc" /><Relationship Type="http://schemas.openxmlformats.org/officeDocument/2006/relationships/notesSlide" Target="/ppt/notesSlides/notesSlide7.xml" Id="R40796c85b85348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12b698dea4288" /><Relationship Type="http://schemas.openxmlformats.org/officeDocument/2006/relationships/notesSlide" Target="/ppt/notesSlides/notesSlide8.xml" Id="Rd76365b42bde4e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60a2da3854feb" /><Relationship Type="http://schemas.openxmlformats.org/officeDocument/2006/relationships/notesSlide" Target="/ppt/notesSlides/notesSlide9.xml" Id="R8926f9ab99564a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D0A73-FE81-4184-88C1-109EA8F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1548B-1B7A-4B99-85C8-A6C2727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代码演化总结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F6D3B-1FA8-4999-A7A4-76397D7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从 InsertShips 到当前 C+L+V / Literature-RAG 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9D7CE-A535-4BB9-8F4F-8B53D87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39445-EEEE-4DA0-BA92-1DD0888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项目已经从单一 Go 插入算子进化，扩展为可迁移的组合优化 EoH harness，并在官方 TSP benchmark 上得到 targeted Literature-RAG 的正向证据。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6CE3D-D3C9-4897-A816-72A2925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9B1C1C"/>
                </a:solidFill>
                <a:latin typeface="Aptos"/>
                <a:ea typeface="Aptos"/>
                <a:cs typeface="Aptos"/>
              </a:rPr>
              <a:t>6.287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AF2EA-BEF9-4BB4-8D5B-F0707F2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TSP targeted gen4 best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30B09-A2D1-4041-BDDE-14C86663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official EoH tsp_construct, lower is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CEE48-C458-4EE2-A42F-AF016834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7D32"/>
                </a:solidFill>
                <a:latin typeface="Aptos"/>
                <a:ea typeface="Aptos"/>
                <a:cs typeface="Aptos"/>
              </a:rPr>
              <a:t>-8%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1BCE0-7FFA-44C6-94D9-9AE2D9D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pure EOH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34A93-D175-4286-9B83-B352560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05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6.839 -&gt; 6.287, targeted regret+farthest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9D6CA-A3B1-4F0C-B929-58DF59B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6 targets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2A45-37B3-492C-A38D-A19B6357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可迁移目标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C28C8-73C1-402B-B88B-0E688F9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InsertShips, Optimization, SelectItems, SplitOrders, ScoreBin, TSP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1E93-2226-4412-B6AD-5AD214F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86B9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5D470-4256-4919-B761-9D33CC4C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50445-5F26-45B4-AEAC-236C491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954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740F9-57BC-47C2-AA80-2F05ED89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81175"/>
            <a:ext cx="2628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1. InsertShips 已证明 LLM 能演化出结构性算子。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2. C+L+V harness 把目标函数、问题 evaluator、RAG context 解耦。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3. RAG 有效性的关键变量是选卡，不是简单加长上下文。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ADDB2-8488-4444-A507-FE6D3C2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0591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D99B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402AF-82B6-4456-BF00-A7FC6A18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092F1-1324-4261-9E0E-0629E82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36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本报告口径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15608-19C9-4902-9C5A-0B6C4887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363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仓库中未找到字面文件 intership.go；以下按项目实际的 InsertShips() 目标和 *_insertships.go 候选源码理解。从这条主线总结到当前 official EoH TSP Literature-RAG 代码框架。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B29B5-0BEC-4C30-9956-33E3CFD7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01</a:t>
            </a:r>
          </a:p>
        </p:txBody>
      </p:sp>
    </p:spTree>
    <p:extLst>
      <p:ext uri="{BB962C8B-B14F-4D97-AF65-F5344CB8AC3E}">
        <p14:creationId xmlns:p14="http://schemas.microsoft.com/office/powerpoint/2010/main" val="323568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F2C28-1924-4D7E-9188-1761F06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C1BD1-A9ED-42D1-9D28-0F9DF06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39E98-ACFA-45A6-8D77-BCA1503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演化主线：从单函数到 official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4A48-D23E-4D84-8299-27DBE4AE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04971-7D68-4038-A2C1-1D4A7FC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6EA52-42B1-4BAC-9B86-F3F29995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5972-6007-4DB0-A119-07932129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724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InsertShips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EAED3-7441-41B8-AD50-B3BCCC9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17240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动态 VRP 新订单插入：AddShip / GenRoute / RemoveShip / RenewnTotalCost。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AFA0C-B45E-4A40-B292-2A5CDE9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43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CF37C-9734-4D80-9A57-7340835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574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EE1D7-689B-4D01-B493-5CCC8FA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CD086-4512-45AF-9A9E-5676E7F4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D68DE-69C6-451E-9234-06D9500D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33550"/>
            <a:ext cx="1724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RAG skill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E11C9-A023-4E93-B150-44BA24F5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19300"/>
            <a:ext cx="17240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将文献伪代码压缩为 Skill / When / Do / Fallback / Safety。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885D2-4C29-4567-AAF1-19C38291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43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9E142-343F-4FE7-8E99-15EBDEC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574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BE055-3F7E-4755-A6D3-53005D9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894BB-C6E7-4947-8B3C-E126646B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01A32-0539-4519-A90F-DC61C8D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33550"/>
            <a:ext cx="1724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C+L+V harness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8E6D4-ACBE-499E-B7C6-CE3DAE2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19300"/>
            <a:ext cx="17240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TargetSpec 定义代码边界；ProblemSpec 定义 evaluator；guard 验证候选。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1AF8F-1651-4F34-AC15-99993CE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11F78-CE25-4BD5-9385-A47494EE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574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7B023-BE28-4641-8B37-B19B202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607BD-23C2-4D4F-850D-4B735185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7F024-FB8A-499B-B2BD-1D40DCB6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733550"/>
            <a:ext cx="1724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 多目标迁移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61C76-0897-49F8-BC45-4899E3CE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19300"/>
            <a:ext cx="17240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Optimization, SelectItems, SplitOrders, ScoreBin 形成 smoke evidence。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4FFEB-D575-424D-AC21-C1B2F8AB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43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C9DE9-8193-4947-ACC0-02BA928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574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579EF-532D-4873-9C67-A888F7F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9B1C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24A24-3C21-4C6E-AA12-E365871C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8C18B5-2CED-42B7-86B8-8990D15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724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 Official EoH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922FD-1DE7-4602-B962-F47788F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19300"/>
            <a:ext cx="17240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接入 bp_online / tsp_construct / cvrp_construct；TSP targeted RAG 出现正向结果。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AC96F-F17A-44AA-81C2-2ECD2BB9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关键变化不是多写几个实验脚本，而是把“可进化代码”“外部问题”“检索上下文”“验证器”拆成可替换接口。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0C80EF-9F66-4E5E-BC1A-98F2E760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02</a:t>
            </a:r>
          </a:p>
        </p:txBody>
      </p:sp>
    </p:spTree>
    <p:extLst>
      <p:ext uri="{BB962C8B-B14F-4D97-AF65-F5344CB8AC3E}">
        <p14:creationId xmlns:p14="http://schemas.microsoft.com/office/powerpoint/2010/main" val="13674003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3D568-C0DD-4CD7-B9D0-4B3CCB5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33969-DAAD-47BF-BEC4-601FB2B2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早期证据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3D38C-A22D-4AA6-A3F9-EC363F5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InsertShips 代码不是随机变异：逐代形成更完整的插入算子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D520D-E72B-4A0B-857D-338177B2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CD661-8692-48FB-9F25-31142E0B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3813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E795C-5E88-4BC4-B1B3-C5E710C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76375"/>
            <a:ext cx="3114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Gen 1: first feasible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32C0F-D5BF-44DA-81F9-7412965F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24025"/>
            <a:ext cx="3114675" cy="2486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for jj := range oris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for _, ii := range rand_range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ok := dispatch.Assigns[ii].AddShip(...)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if ok { dispatch.Assigns[ii].GenRoute()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if dispatch.Assigns[ii].Cost &lt; 0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dispatch.Assigns[ii].RemoveShip(...)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dispatch.Assigns[ii].GenRoute()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} else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if ii &gt;= dispatch.AssignsLen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  dispatch.AssignsLen += 1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break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7D36B-3CCB-4603-B9FB-EB14AEE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81125"/>
            <a:ext cx="33813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2388F-C1BB-44D3-AAA1-2B6D499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76375"/>
            <a:ext cx="3114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Gen 4: trial all +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F3470-1B42-4A0D-9A38-CC62BEE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24025"/>
            <a:ext cx="3114675" cy="2486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for _, idx := range assignIndices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origCost := dispatch.Assigns[idx].Cost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ok := dispatch.Assigns[idx].AddShip(shipId, ori, des)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ok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dispatch.Assigns[idx].GenRoute()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deltaCost := dispatch.Assigns[idx].Cost - origCost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if bestAssignIdx == -1 || deltaCost &lt; bestDeltaCost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bestDeltaCost = deltaCost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bestAssignIdx = idx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dispatch.Assigns[idx].RemoveShip(shipId)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dispatch.Assigns[idx].GenRoute()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DEAF3-63E9-4F69-BD21-93C38A85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338137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E8C3-94B0-48F0-8CF4-18DD62B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76375"/>
            <a:ext cx="3114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Gen 8: best-delta +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65067-F8E3-4A5A-8217-93D25463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24025"/>
            <a:ext cx="3114675" cy="2486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bestAssignIdx != -1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finalAssign := &amp;dispatch.Assigns[bestAssignIdx]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finalAssign.AddShip(shipId, ori, des)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finalAssign.GenRoute()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inserted = true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if !inserted &amp;&amp; dispatch.AssignsLen &lt; MAXASSIGNS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nextIdx := dispatch.AssignsLen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if dispatch.Assigns[nextIdx].AddShip(shipId, ori, des) {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dispatch.Assigns[nextIdx].GenRoute()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dispatch.AssignsLen++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dispatch.RenewnTotalCost()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90DA-D2D2-471B-9BCE-C433D125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4BB11-0C4A-4593-A20A-304464C2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1699D-0248-4BB7-AA7A-3A8030C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76800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verified result: rc101 d50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7D43D-1FEB-41D1-954B-33A17760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62550"/>
            <a:ext cx="4248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seed_J=713.52, verified best_EOH_J=274.90。代码结构从 first feasible 变成 trial-all best-delta + fallback。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7B97E-E59A-4D7D-965C-668BDCE6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0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A51CB-BF28-4D3B-878F-126951C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AAF7-D52D-4A46-A8C6-C23FEA7A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76800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verified result: rc101 d75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724E3-DB9A-494E-AB15-8B77134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162550"/>
            <a:ext cx="4248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seed_J=549.48, verified best_EOH_J=393.30。高密度场景进一步出现 weighted scoring / slack penalty。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C9963-C353-491A-BB80-46A7D45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03</a:t>
            </a:r>
          </a:p>
        </p:txBody>
      </p:sp>
    </p:spTree>
    <p:extLst>
      <p:ext uri="{BB962C8B-B14F-4D97-AF65-F5344CB8AC3E}">
        <p14:creationId xmlns:p14="http://schemas.microsoft.com/office/powerpoint/2010/main" val="9756766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077CA-1667-4423-93C7-E7CB183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C3ADE-BC08-401E-9300-DAAB0B4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架构视图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55837-DDE3-426C-A68C-7860090A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当前代码结构：C+L+V harness 把代码、知识、验证拆开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C533E-5A13-43CE-BA73-D889FF1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67b2406fd44c0"/>
          <a:stretch xmlns:a="http://schemas.openxmlformats.org/drawingml/2006/main"/>
        </p:blipFill>
        <p:spPr>
          <a:xfrm xmlns:a="http://schemas.openxmlformats.org/drawingml/2006/main">
            <a:off x="1145474" y="1314450"/>
            <a:ext cx="6510153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804AF-8554-4141-81F1-F928E72F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AA0DC-11F6-4360-A602-D5122B3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49C78-A971-48C1-9221-05C63E3A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543050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C: Code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22B2F-3D87-43F8-BC72-633AF63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828800"/>
            <a:ext cx="2390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TargetSpec: function name, signature, extract/replace regex, seed path, guard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79022-D6AB-4D5B-9DA9-618B02E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06029-6155-47AC-A32B-546E149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95DDA-CFA7-4102-938E-A3FC9E3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71800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L: Literature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E50EB-4C08-4DFA-BE38-F93C8D0A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57550"/>
            <a:ext cx="2390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CorpusItem + retriever + prompt_context: API rules fixed first, strategy cards top-k selected.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A4221-6F9B-451D-A739-91F0AB8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BB239-26E5-4DFA-90D6-C9DA5A2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99C12-12BF-4F65-9FBF-1CE2B3BF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00550"/>
            <a:ext cx="2390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V: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8284D-D7F5-42ED-B5F0-DEC96FE1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86300"/>
            <a:ext cx="23907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ProblemSpec + evaluator + guard: compile, execute, score, summarize, keep trace.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69A9B-F47B-43B4-AA36-7CB689AC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04</a:t>
            </a:r>
          </a:p>
        </p:txBody>
      </p:sp>
    </p:spTree>
    <p:extLst>
      <p:ext uri="{BB962C8B-B14F-4D97-AF65-F5344CB8AC3E}">
        <p14:creationId xmlns:p14="http://schemas.microsoft.com/office/powerpoint/2010/main" val="1742537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C25F5-39F7-4959-9593-259D0CC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56181-5D8E-47C5-8EC1-737AFD7F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Literature-RAG 数据模型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41BC2-56AC-49EF-9392-300C893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定版：分类修正比单纯压缩更关键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3CEAB-E6F6-4623-A91D-4E3F18D0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105D9-EC3A-4ACE-9B7B-CA143044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D8481-8C25-4332-BCF3-36192E7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EAF05-7C9A-42A1-AEBC-6D6D608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api_constraint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BE0FA-3C05-4555-88E4-355AB01D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API skeleton / safety rules。固定前置，不进入 retrieval pool。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FF035-CC60-4227-AFFC-D394469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F8AA4-2B5D-4B3A-B815-C8323A9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C9BD3-F5AD-4C22-A599-0D0CD52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430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algorithm_card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B2169-9707-4A6F-94EE-74F688BF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288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真正参与 top-k 的策略卡。Skill / When / Do / Fallback / Safety。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EF0CE-7D7F-4364-AA15-E680AE6C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D24FD-6026-4372-80BD-2388FE0C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0BDF1-0CAC-4FBF-9197-4CD8E46E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failure_case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4C1B8-C574-4815-B95D-7DC084EE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只输出短 warning；不输出 guard 源码，不挤占策略空间。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0C59E-FCBB-480D-BAD6-AB8ECF32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9B1C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981D6-8C0B-4914-B040-6512B14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E2814-1104-4C1D-8984-4022915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4305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code_example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B44B1-99C5-4DE2-8272-D805B6E0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历史生成代码；用于 history/mixed 模式，不替代文献卡。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A8B0D-A357-43A6-A3AA-6287DEF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9B1C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083C9-5969-4444-AB16-3F72331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43250"/>
            <a:ext cx="459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Before: 长参考文档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1C862-8CAA-4DCA-BB1C-C4EE8FC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90900"/>
            <a:ext cx="4591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Source: Rosenkrantz 1977...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Best for: ...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Pseudocode: long derivation...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InsertShips mapping: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Problem: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- paper background consumes context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- API skeleton competes with strategy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- generated code imitates long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456C5-DBCA-498F-BD66-9AD1F11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F7D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834B3-C474-4A74-934F-4EC2B22E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43250"/>
            <a:ext cx="459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After: skill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49A90-BFF1-497E-8123-56ACDB31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4591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Skill: regret2_select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When: orders compete for limited capacity.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Do: compute best and second-best insertion cost_delta.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Fallback: one feasible position -&gt; insert immediately.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Safety: GenRoute after every trial AddShip/RemoveShip.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4D52D-4C58-40B9-AFDD-6B33C40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05</a:t>
            </a:r>
          </a:p>
        </p:txBody>
      </p:sp>
    </p:spTree>
    <p:extLst>
      <p:ext uri="{BB962C8B-B14F-4D97-AF65-F5344CB8AC3E}">
        <p14:creationId xmlns:p14="http://schemas.microsoft.com/office/powerpoint/2010/main" val="18665358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AE6BA9-1A5D-43F7-87EB-D1B15F3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62151-D5DA-42AE-9B06-016962C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official benchmark 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31498-0E05-4BB9-8748-2313E9F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从自建 Go evaluator 到官方 EoH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A3243-CF4A-4C80-871D-3FB8B8C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460F8-E13E-4934-85A9-782E04BB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515A1-310A-45AB-9178-C214903C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4DA11-6BCC-48FE-8B77-D9C1CD4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Corpus JSONL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B1BC9-3FF4-4CD6-AFB3-EE43249D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algorithm/api/code/failure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37D3F-DD46-4859-BFEE-83A7D09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14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61143-E2F4-4BCF-8CC2-CF57906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288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75F58-948F-488C-89F8-AE7C72BB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A9F6-0932-4A23-BEED-0F163C1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E0CB-EBEB-4F4A-99B2-1167B14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764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DEA15-D725-408E-9285-398C906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621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score query terms; choose top-k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6D674-7F69-4BBE-AFB0-B4F929D5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14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D6369-E8C2-4A76-9360-D7A8542A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288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B21B2-B92D-4AE3-A7B7-FD1D2AB1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11255-E967-4B4F-8789-31367E8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71177-210F-469F-AB63-33FF621C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764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Prompt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640E6-7A35-4194-9A5F-0DE6222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621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API RULES + STRATEGY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9391C-021B-4908-BE2A-78ED6CFD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14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D73C5-C8EE-4048-8C2D-E71C82AB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288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30C8E-2598-4B04-9907-D2920F27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22E15-A79C-45F6-90C8-E7924EAA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77532-CDF4-4EE2-9075-53BD50A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764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official_eoh_run.py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C52AE-494E-4835-B0DF-4FB027A7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patch API adapter; launch subprocess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10E195-F592-404D-898A-1BC37A64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14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68126-FC8C-4BB9-B105-ED61042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2885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DDF06-4CB8-4C38-8AD9-9530087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CE475-3B3A-4E79-A916-8195C3B7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77D8C-E57E-4481-98FA-693DB2B7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76425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Official EoH repo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B16BF-9388-4CEE-9366-67624C59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62175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bp_online / tsp_construct / cvrp_construct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EE1C-3B45-4DDB-9DBB-35B05C99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9B1C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66318-A8EC-4560-A824-A9FF6ADD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65FA4-D0E7-4AA7-AEB3-37612B3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29050"/>
            <a:ext cx="2771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bp_online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014D3-398D-44B9-847B-3E630218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14800"/>
            <a:ext cx="27717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OBP 对齐 EoH 原论文主例；当前 harness 跑通，但有效生成率和 card selection 还需修。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B5AC9-1793-4856-BF73-35E4BCA9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63DD8-0D9B-4A61-9C9D-1B58A8C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BC342A-4776-45FC-A61A-99A2A6C1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771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tsp_construct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F4643-883F-4822-B8D8-BB20219D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27717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当前最强证据：targeted regret + farthest cards 稳定优于 pure EOH / API-only。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9AA1A-C15E-409A-8B68-E16C6A02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BFA53-DD87-4DC8-90A2-DDFE62A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74C562-E8E3-4140-A025-9CFA3C31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2771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cvrp_construct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7C4DF-16F2-4085-98BC-BB28F02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14800"/>
            <a:ext cx="27717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已接入；skill cards 需要从 capacity-only 修成 savings / regret / farthest 组合。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35152F-67E0-4B3D-BB79-85FA7304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06</a:t>
            </a:r>
          </a:p>
        </p:txBody>
      </p:sp>
    </p:spTree>
    <p:extLst>
      <p:ext uri="{BB962C8B-B14F-4D97-AF65-F5344CB8AC3E}">
        <p14:creationId xmlns:p14="http://schemas.microsoft.com/office/powerpoint/2010/main" val="8153563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31EA3-52EB-4B7A-AB63-F52B399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6461B-B320-456D-A4E3-A008C444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B8D35-501E-41CA-A51B-E92398EE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TSP 证明：RAG 的变量是“选中哪张卡”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36CEF-CA5F-4D2E-8B84-6630E57F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3C6F2-57AB-44AC-B8F4-136C07D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F99DB-D621-4763-A6A9-2F6DF209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4FAE-B243-48B6-98A5-E3889C1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A95D8-D703-41CD-94A1-2A97F45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27673-257B-4C01-B63D-879E254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28DF0-A92D-4FF9-84D7-5DCD2A7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 pure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490C3-4F28-4A86-8C2F-08DD671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287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0BEE-96B4-45E6-B9A0-B30ADB00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FE4B2-C6B2-41CC-B5F7-E3FFCED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D4D2E-BB22-49BB-BB6F-9361FBC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DD870-E8D0-4441-8E1E-8A1A336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F93EA-2011-441A-B981-C11D75EE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pure EOH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6E893-E3FD-4284-A0E9-A68692D1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8F6A7-8FDB-41B1-B63A-F8F1B96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6.83907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F500A-29C2-47CF-9022-0E47B0E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64C26-B7EF-4552-9DE6-FB1149A8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0.00000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C0A94-E3DA-4031-B381-B12EAEAB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BE854-5B47-4EBC-A641-D5C8C60D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36FA1-3059-4E1C-87B6-5368D9B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88DCF-57E1-477C-966C-496BB784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E8AAE-968C-478D-BDC2-5292FDF8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FEEB4-F640-4359-A23C-186F93F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API-only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656BD-DDFB-4136-88FF-BE91134F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62175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9EB7C-99A7-4535-BF2F-6F35F45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6.78953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BF509-A3D4-48EF-9E9B-DEE464C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62175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D1CFA-31C7-424E-A77A-D94D5E7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-0.04954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4627BF-F75F-4ECA-8A14-F9E45DF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621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41F05-5870-40AA-A49E-71E9885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0E8B2D-6ED8-4E60-95B1-889D072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D09A9C-5654-4017-A404-977DAEB8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797974-24D4-4EB5-A859-AA8D13CD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3E5510-4754-476D-995F-EA867E4E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default RAG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8591AE-8891-4D59-8972-1E2C8F42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E048B-D9E1-446C-8579-9DF5271E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6.83954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B8209E-DC23-4639-9306-109E34B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239853-8D9F-4ED4-9411-EDEB8C6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765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+0.00047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A74A4D-36E6-4945-9577-A87B2C78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9AFC8F-9901-4A59-884E-9DC362E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765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31D7AD-F577-45EC-9DC6-1352602B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D68DFF-7919-4F69-8025-FB7A081C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765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nearest + nearest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C06B62-BFDB-406F-A42A-870AD1D8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C15643-73C9-4947-946E-A67616F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targeted init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5421AD-F826-47AC-9996-C318B04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CC2640-935C-4861-98CD-7E911EB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6.51118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BFFE3E-11BA-4AB3-87DF-AF6282A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81325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CF41FC-C729-456F-874C-ADCDEC9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-0.32789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E47B3C-3EEB-41ED-9856-9FE8B718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813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2B9E4F-D159-4728-94B9-993C1F4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DBFBC2-CF4B-4294-8C58-F9FE4FA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49F8AA-D931-4E42-B46D-5A6115B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regret + farthest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CBFAE5-0887-44F9-8C9D-ABFDA0BB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095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98AB29-08DE-47F9-A0B2-0DADF757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targeted gen4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965FDF-8980-40FE-9996-87A1DF7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9090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11CA6F-D209-4C7A-9696-75113779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95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6.28736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CDAA4B-A60B-424B-A53E-F67F9103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90900"/>
            <a:ext cx="142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8D8C33-68FA-4100-BCCE-5A416A51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95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-0.55171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8B9593-3B61-4488-9DA1-AB52E6D7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909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DBCCF7-78A5-48AE-B9C0-D104A854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956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562659-7B36-4598-B31E-8AEA62B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45FB83-3C77-471D-B79A-DB04000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956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regret + farthest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052445-62E2-4F37-AE30-9DE99D2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3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7D32"/>
                </a:solidFill>
                <a:latin typeface="Aptos"/>
                <a:ea typeface="Aptos"/>
                <a:cs typeface="Aptos"/>
              </a:rPr>
              <a:t>3/3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03AD41-CE4C-4227-B627-847DB8D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targeted repeats below pure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C8E071-95CB-47CB-A573-85FFBD5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6.305, 6.500, 6.733 all &lt; 6.839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54EA22-C5C6-43E0-9640-48E937F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1917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AF8A8C-5EFF-4DCA-88C8-27286860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context chars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0C28906-21A2-4C6A-BCD4-34436CE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targeted context, no truncation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0CEEF2-34D5-42E8-9A6B-A83FFCA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211FA2-10DE-4133-8720-18ABC16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FCC8CD-489B-4E6F-B6F2-E3FED10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3771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解释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D6D4FBE-A62D-444F-9F72-F3B4603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377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default RAG 选中 nearest 族，和模型自发策略重合；targeted query 把 regret/farthest 拉进 prompt，生成方向明显改变。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668EC8-CEEC-4E0D-9C45-D1F977F4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07</a:t>
            </a:r>
          </a:p>
        </p:txBody>
      </p:sp>
    </p:spTree>
    <p:extLst>
      <p:ext uri="{BB962C8B-B14F-4D97-AF65-F5344CB8AC3E}">
        <p14:creationId xmlns:p14="http://schemas.microsoft.com/office/powerpoint/2010/main" val="17896746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DD3E0-6C08-46AF-B940-F9A90001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F11A9-8013-46FB-9EEE-A1547B7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TSP 代码演化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3CD98-6625-4BE9-B569-607F7C1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生成代码也变了：从 progress score 到 isolation + regret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B759C-978C-4B56-823E-99B99D0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5C90A-ED2E-4190-B7B1-CCDAE89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8814C-B3B6-4261-BC78-60767CBD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24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Pure EOH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02FBD-8746-4B2C-ADE9-A15FA266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71650"/>
            <a:ext cx="31623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progress = d(current,dest) - (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d(current,u) + d(u,dest)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combined_score = (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alpha * norm_dist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- (1-alpha) * norm_progress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return argmin(combined_score)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DB257-BC9F-421A-9889-F3E27EC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F7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A4918-8B54-4956-AE67-1FEE56D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Targeted RAG init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B8F9E-0A76-42D1-BF0A-0A59189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31623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farthest_rep = argmax d(current,u)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regret = second_min(endpoint_cost)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   - min(endpoint_cost)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score = norm_regret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+ norm_cluster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+ (1 - norm_current_dist)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return argmax(score)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19577-8135-4A98-A6DB-1300D4B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9B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AF3F4-E8E8-43DC-992E-AEA8F502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524000"/>
            <a:ext cx="3162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Gen4 best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F06DA-65FC-45C4-9905-72268AE7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71650"/>
            <a:ext cx="31623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iso = mean distance(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cand, others + destination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regret = max(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0, best_two_hop - d_current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score = (0.4*iso + 0.6*regret)</a:t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    / d_current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return argmax(score)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FC1DB-62D6-45BA-85E0-6F0FF3EE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RAG 的作用不是让模型照抄文献，而是把搜索方向从 nearest/progress 推到“未来后悔 + 孤立风险”的组合策略。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A7C9-D8EE-4D50-B384-61E7E01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08</a:t>
            </a:r>
          </a:p>
        </p:txBody>
      </p:sp>
    </p:spTree>
    <p:extLst>
      <p:ext uri="{BB962C8B-B14F-4D97-AF65-F5344CB8AC3E}">
        <p14:creationId xmlns:p14="http://schemas.microsoft.com/office/powerpoint/2010/main" val="6741995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368097-EF64-4C4E-86D3-CCE7B2B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37E83-C3D4-4293-B149-B31AAAC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91"/>
                </a:solidFill>
                <a:latin typeface="Aptos"/>
                <a:ea typeface="Aptos"/>
                <a:cs typeface="Aptos"/>
              </a:rPr>
              <a:t>风险与路线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62AD-7E62-466A-9C61-EFD0A30B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下一步：把“可迁移”和“有效提升”分开推进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D8AB8-3870-4297-AEEA-B6FAE75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820DA-02D1-47C8-92BB-C8E410D2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ED"/>
          </a:solidFill>
          <a:ln xmlns:a="http://schemas.openxmlformats.org/drawingml/2006/main" w="11430">
            <a:solidFill>
              <a:srgbClr val="2F7D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075D6-0C74-4D99-8FE3-8095903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82549-BEC5-4C13-9708-F9AB37C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90675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已成立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A4428-F1CA-4D75-86D6-9C93008C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91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1. InsertShips 有代码结构演化证据。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2. C+L+V harness 已支持多目标、多问题。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3. official TSP targeted RAG 有正向且可解释的结果。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9DE89-4C70-4313-A1AC-AED01745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1430">
            <a:solidFill>
              <a:srgbClr val="A65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D5346-2713-4F92-8F73-B3F3878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92CDD-494E-48C5-9F23-A66B692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90675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还不成立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37D5E-046E-4925-A8F6-801EB7C5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76425"/>
            <a:ext cx="291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1. OBP / CVRP 暂不能作为 RAG 正向证据。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2. 多问题目前更多是 smoke evidence。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3. 公司 API 结果不能直接替代论文开源模型实验。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2FC41-59E6-40F3-9D98-4E04E4B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D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F5C8E-689F-45E5-AC0B-6028E22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14156-CA55-402F-8F26-D402D47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建议顺序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EB648-59D5-4A1A-A6CA-E1922042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76425"/>
            <a:ext cx="29146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1. 固化 TSP targeted gen4 结果。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2. 修 OBP population 生成率和卡片选择。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3. 修 CVRP cards，从 capacity-only 转为 savings/regret/farthest。</a:t>
            </a:r>
          </a:p>
          <a:p xmlns:a="http://schemas.openxmlformats.org/drawingml/2006/main"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4. 用开源模型复跑核心 cell。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ED073-2771-49CB-BF8F-F9901844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汇报口径：框架迁移能力看多 target smoke；RAG 有效性先看 official TSP targeted RAG。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380C3-AF0B-41E2-B993-0A9F57B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8B743-99BE-4AE9-B06C-11929D1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本 deck 和报告只整理现有代码与本地记录；未触发新的 LLM 实验，未读取或打印任何 API key。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8FA8C-AE65-4C73-93E1-25A668D2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agent_go evolution note | 2026-06-04 | 09</a:t>
            </a:r>
          </a:p>
        </p:txBody>
      </p:sp>
    </p:spTree>
    <p:extLst>
      <p:ext uri="{BB962C8B-B14F-4D97-AF65-F5344CB8AC3E}">
        <p14:creationId xmlns:p14="http://schemas.microsoft.com/office/powerpoint/2010/main" val="682413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2026-06-04T15:26:45.1210000Z</dcterms:created>
  <dcterms:modified xsi:type="dcterms:W3CDTF">2026-06-04T15:26:45.1210000Z</dcterms:modified>
</coreProperties>
</file>